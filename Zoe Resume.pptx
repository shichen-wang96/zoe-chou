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9"/>
  </p:notesMasterIdLst>
  <p:sldIdLst>
    <p:sldId id="270" r:id="rId5"/>
    <p:sldId id="272" r:id="rId6"/>
    <p:sldId id="273" r:id="rId7"/>
    <p:sldId id="274" r:id="rId8"/>
  </p:sldIdLst>
  <p:sldSz cx="12192000" cy="6858000"/>
  <p:notesSz cx="6797675" cy="9926638"/>
  <p:custDataLst>
    <p:tags r:id="rId1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20" userDrawn="1">
          <p15:clr>
            <a:srgbClr val="A4A3A4"/>
          </p15:clr>
        </p15:guide>
        <p15:guide id="2" pos="7310" userDrawn="1">
          <p15:clr>
            <a:srgbClr val="A4A3A4"/>
          </p15:clr>
        </p15:guide>
        <p15:guide id="3" pos="1935" userDrawn="1">
          <p15:clr>
            <a:srgbClr val="A4A3A4"/>
          </p15:clr>
        </p15:guide>
        <p15:guide id="4" orient="horz" pos="104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王 诗琛" initials="王"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004A96"/>
    <a:srgbClr val="55CBFB"/>
    <a:srgbClr val="006EBC"/>
    <a:srgbClr val="FCFCFD"/>
    <a:srgbClr val="E04D3A"/>
    <a:srgbClr val="D6DCE5"/>
    <a:srgbClr val="F8F9F9"/>
    <a:srgbClr val="3660AC"/>
    <a:srgbClr val="003D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65" autoAdjust="0"/>
    <p:restoredTop sz="96391" autoAdjust="0"/>
  </p:normalViewPr>
  <p:slideViewPr>
    <p:cSldViewPr snapToGrid="0" showGuides="1">
      <p:cViewPr varScale="1">
        <p:scale>
          <a:sx n="96" d="100"/>
          <a:sy n="96" d="100"/>
        </p:scale>
        <p:origin x="64" y="684"/>
      </p:cViewPr>
      <p:guideLst>
        <p:guide orient="horz" pos="4020"/>
        <p:guide pos="7310"/>
        <p:guide pos="1935"/>
        <p:guide orient="horz" pos="1049"/>
      </p:guideLst>
    </p:cSldViewPr>
  </p:slideViewPr>
  <p:notesTextViewPr>
    <p:cViewPr>
      <p:scale>
        <a:sx n="1" d="1"/>
        <a:sy n="1" d="1"/>
      </p:scale>
      <p:origin x="0" y="0"/>
    </p:cViewPr>
  </p:notesTextViewPr>
  <p:sorterViewPr>
    <p:cViewPr>
      <p:scale>
        <a:sx n="66" d="100"/>
        <a:sy n="66" d="100"/>
      </p:scale>
      <p:origin x="0" y="-754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6FACCBC8-17D8-4674-A594-A27D03C9B803}" type="datetimeFigureOut">
              <a:rPr lang="zh-CN" altLang="en-US" smtClean="0"/>
              <a:t>2025/6/24</a:t>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E3AB03D8-8700-4CFA-B6DF-0067831CE24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5CBDF8-4D02-486A-BAF4-16ED72CC7438}"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5CBDF8-4D02-486A-BAF4-16ED72CC7438}" type="slidenum">
              <a:rPr lang="en-US" smtClean="0"/>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5CBDF8-4D02-486A-BAF4-16ED72CC7438}" type="slidenum">
              <a:rPr lang="en-US" smtClean="0"/>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5CBDF8-4D02-486A-BAF4-16ED72CC7438}" type="slidenum">
              <a:rPr lang="en-US" smtClean="0"/>
              <a:t>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2C851F6-25A1-4D69-BB33-A3DA744868F1}" type="datetimeFigureOut">
              <a:rPr lang="en-US" smtClean="0"/>
              <a:t>6/24/2025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604BFA-5BA2-497B-A70A-1F06534497D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C851F6-25A1-4D69-BB33-A3DA744868F1}" type="datetimeFigureOut">
              <a:rPr lang="en-US" smtClean="0"/>
              <a:t>6/24/2025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604BFA-5BA2-497B-A70A-1F06534497D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C851F6-25A1-4D69-BB33-A3DA744868F1}" type="datetimeFigureOut">
              <a:rPr lang="en-US" smtClean="0"/>
              <a:t>6/24/2025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604BFA-5BA2-497B-A70A-1F06534497D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2C851F6-25A1-4D69-BB33-A3DA744868F1}" type="datetimeFigureOut">
              <a:rPr lang="en-US" smtClean="0"/>
              <a:t>6/24/2025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604BFA-5BA2-497B-A70A-1F06534497D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2C851F6-25A1-4D69-BB33-A3DA744868F1}" type="datetimeFigureOut">
              <a:rPr lang="en-US" smtClean="0"/>
              <a:t>6/24/2025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A604BFA-5BA2-497B-A70A-1F06534497D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2C851F6-25A1-4D69-BB33-A3DA744868F1}" type="datetimeFigureOut">
              <a:rPr lang="en-US" smtClean="0"/>
              <a:t>6/24/2025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A604BFA-5BA2-497B-A70A-1F06534497D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C851F6-25A1-4D69-BB33-A3DA744868F1}" type="datetimeFigureOut">
              <a:rPr lang="en-US" smtClean="0"/>
              <a:t>6/24/2025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A604BFA-5BA2-497B-A70A-1F06534497D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2C851F6-25A1-4D69-BB33-A3DA744868F1}" type="datetimeFigureOut">
              <a:rPr lang="en-US" smtClean="0"/>
              <a:t>6/24/2025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604BFA-5BA2-497B-A70A-1F06534497D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2C851F6-25A1-4D69-BB33-A3DA744868F1}" type="datetimeFigureOut">
              <a:rPr lang="en-US" smtClean="0"/>
              <a:t>6/24/2025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604BFA-5BA2-497B-A70A-1F06534497D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C851F6-25A1-4D69-BB33-A3DA744868F1}" type="datetimeFigureOut">
              <a:rPr lang="en-US" smtClean="0"/>
              <a:t>6/24/2025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604BFA-5BA2-497B-A70A-1F06534497D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C851F6-25A1-4D69-BB33-A3DA744868F1}" type="datetimeFigureOut">
              <a:rPr lang="en-US" smtClean="0"/>
              <a:t>6/24/2025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604BFA-5BA2-497B-A70A-1F06534497D3}"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17" name="Text Placeholder 13"/>
          <p:cNvSpPr>
            <a:spLocks noGrp="1"/>
          </p:cNvSpPr>
          <p:nvPr>
            <p:ph type="body" sz="quarter" idx="36" hasCustomPrompt="1"/>
          </p:nvPr>
        </p:nvSpPr>
        <p:spPr>
          <a:xfrm>
            <a:off x="480317" y="1796495"/>
            <a:ext cx="11182698" cy="4608677"/>
          </a:xfrm>
        </p:spPr>
        <p:txBody>
          <a:bodyPr anchor="t" anchorCtr="0">
            <a:normAutofit/>
          </a:bodyPr>
          <a:lstStyle>
            <a:lvl1pPr marL="304800" indent="-304800" algn="l">
              <a:lnSpc>
                <a:spcPct val="120000"/>
              </a:lnSpc>
              <a:spcAft>
                <a:spcPts val="0"/>
              </a:spcAft>
              <a:buSzPct val="100000"/>
              <a:buFont typeface="+mj-lt"/>
              <a:buAutoNum type="arabicPeriod"/>
              <a:defRPr sz="1865"/>
            </a:lvl1pPr>
            <a:lvl2pPr marL="321945" indent="165100" algn="l">
              <a:lnSpc>
                <a:spcPct val="120000"/>
              </a:lnSpc>
              <a:spcAft>
                <a:spcPts val="0"/>
              </a:spcAft>
              <a:buSzPct val="100000"/>
              <a:buFont typeface="Volvo Novum Light" panose="020B0604020202020204" pitchFamily="34" charset="0"/>
              <a:buChar char="•"/>
              <a:defRPr sz="1600"/>
            </a:lvl2pPr>
            <a:lvl3pPr marL="490855" indent="160655" algn="l">
              <a:lnSpc>
                <a:spcPct val="120000"/>
              </a:lnSpc>
              <a:spcAft>
                <a:spcPts val="0"/>
              </a:spcAft>
              <a:buSzPct val="100000"/>
              <a:buFont typeface="Volvo Novum Light" panose="020B0604020202020204" pitchFamily="34" charset="0"/>
              <a:buChar char="•"/>
              <a:defRPr sz="1465"/>
            </a:lvl3pPr>
            <a:lvl4pPr marL="651510" indent="165100" algn="l">
              <a:lnSpc>
                <a:spcPct val="120000"/>
              </a:lnSpc>
              <a:spcAft>
                <a:spcPts val="0"/>
              </a:spcAft>
              <a:buSzPct val="100000"/>
              <a:buFont typeface="Volvo Novum Light" panose="020B0604020202020204" pitchFamily="34" charset="0"/>
              <a:buChar char="•"/>
              <a:defRPr sz="1335"/>
            </a:lvl4pPr>
            <a:lvl5pPr marL="831850" indent="146050" algn="l">
              <a:lnSpc>
                <a:spcPct val="120000"/>
              </a:lnSpc>
              <a:spcAft>
                <a:spcPts val="0"/>
              </a:spcAft>
              <a:buSzPct val="100000"/>
              <a:buFont typeface="Volvo Novum Light" panose="020B0604020202020204" pitchFamily="34" charset="0"/>
              <a:buChar char="•"/>
              <a:defRPr sz="1200"/>
            </a:lvl5pPr>
            <a:lvl6pPr marL="989965" indent="139700" algn="l">
              <a:lnSpc>
                <a:spcPct val="120000"/>
              </a:lnSpc>
              <a:spcAft>
                <a:spcPts val="0"/>
              </a:spcAft>
              <a:buSzPct val="100000"/>
              <a:buFont typeface="Volvo Novum Light" panose="020B0604020202020204" pitchFamily="34" charset="0"/>
              <a:buChar char="•"/>
              <a:defRPr sz="1065"/>
            </a:lvl6pPr>
            <a:lvl7pPr marL="988695" indent="139065">
              <a:lnSpc>
                <a:spcPct val="120000"/>
              </a:lnSpc>
              <a:spcBef>
                <a:spcPts val="0"/>
              </a:spcBef>
              <a:spcAft>
                <a:spcPts val="0"/>
              </a:spcAft>
              <a:defRPr sz="1065" b="0" i="0">
                <a:latin typeface="Volvo Novum Light" panose="020B0303040502060204" pitchFamily="34" charset="77"/>
              </a:defRPr>
            </a:lvl7pPr>
            <a:lvl8pPr marL="988695" indent="139065">
              <a:lnSpc>
                <a:spcPct val="150000"/>
              </a:lnSpc>
              <a:spcBef>
                <a:spcPts val="0"/>
              </a:spcBef>
              <a:spcAft>
                <a:spcPts val="0"/>
              </a:spcAft>
              <a:defRPr sz="1065" b="0" i="0">
                <a:latin typeface="Volvo Novum Light" panose="020B0303040502060204" pitchFamily="34" charset="77"/>
              </a:defRPr>
            </a:lvl8pPr>
            <a:lvl9pPr marL="988695" indent="139065">
              <a:lnSpc>
                <a:spcPct val="150000"/>
              </a:lnSpc>
              <a:spcBef>
                <a:spcPts val="0"/>
              </a:spcBef>
              <a:spcAft>
                <a:spcPts val="0"/>
              </a:spcAft>
              <a:defRPr sz="1065" b="0" i="0">
                <a:latin typeface="Volvo Novum Light" panose="020B0303040502060204" pitchFamily="34" charset="77"/>
              </a:defRPr>
            </a:lvl9pPr>
          </a:lstStyle>
          <a:p>
            <a:pPr lvl="0"/>
            <a:r>
              <a:rPr lang="ja-JP" altLang="en-GB" noProof="0" dirty="0"/>
              <a:t>点击</a:t>
            </a:r>
            <a:r>
              <a:rPr lang="ja-JP" altLang="en-US" noProof="0" dirty="0"/>
              <a:t>添加条目</a:t>
            </a:r>
            <a:endParaRPr lang="en-GB" noProof="0" dirty="0"/>
          </a:p>
          <a:p>
            <a:pPr lvl="1"/>
            <a:r>
              <a:rPr lang="ja-JP" altLang="en-GB" noProof="0" dirty="0"/>
              <a:t>第二</a:t>
            </a:r>
            <a:r>
              <a:rPr lang="ja-JP" altLang="en-US" noProof="0" dirty="0"/>
              <a:t>层级</a:t>
            </a:r>
            <a:endParaRPr lang="en-GB" noProof="0" dirty="0"/>
          </a:p>
          <a:p>
            <a:pPr lvl="2"/>
            <a:r>
              <a:rPr lang="ja-JP" altLang="en-US" noProof="0" dirty="0"/>
              <a:t>第三层级</a:t>
            </a:r>
            <a:endParaRPr lang="en-GB" noProof="0" dirty="0"/>
          </a:p>
          <a:p>
            <a:pPr lvl="3"/>
            <a:r>
              <a:rPr lang="ja-JP" altLang="en-GB" noProof="0" dirty="0"/>
              <a:t>第四</a:t>
            </a:r>
            <a:r>
              <a:rPr lang="ja-JP" altLang="en-US" noProof="0" dirty="0"/>
              <a:t>层级</a:t>
            </a:r>
            <a:endParaRPr lang="en-GB" noProof="0" dirty="0"/>
          </a:p>
          <a:p>
            <a:pPr lvl="4"/>
            <a:r>
              <a:rPr lang="ja-JP" altLang="en-GB" noProof="0" dirty="0"/>
              <a:t>第五</a:t>
            </a:r>
            <a:r>
              <a:rPr lang="ja-JP" altLang="en-US" noProof="0" dirty="0"/>
              <a:t>层级</a:t>
            </a:r>
            <a:endParaRPr lang="en-GB" noProof="0" dirty="0"/>
          </a:p>
          <a:p>
            <a:pPr lvl="5"/>
            <a:r>
              <a:rPr lang="ja-JP" altLang="en-GB" noProof="0" dirty="0"/>
              <a:t>第六</a:t>
            </a:r>
            <a:r>
              <a:rPr lang="ja-JP" altLang="en-US" noProof="0" dirty="0"/>
              <a:t>层级</a:t>
            </a:r>
            <a:endParaRPr lang="en-GB" noProof="0" dirty="0"/>
          </a:p>
          <a:p>
            <a:pPr lvl="6"/>
            <a:r>
              <a:rPr lang="ja-JP" altLang="en-GB" noProof="0" dirty="0"/>
              <a:t>第七</a:t>
            </a:r>
            <a:r>
              <a:rPr lang="ja-JP" altLang="en-US" noProof="0" dirty="0"/>
              <a:t>层级</a:t>
            </a:r>
            <a:endParaRPr lang="en-GB" noProof="0" dirty="0"/>
          </a:p>
        </p:txBody>
      </p:sp>
      <p:sp>
        <p:nvSpPr>
          <p:cNvPr id="13" name="Title 1"/>
          <p:cNvSpPr>
            <a:spLocks noGrp="1"/>
          </p:cNvSpPr>
          <p:nvPr>
            <p:ph type="title" hasCustomPrompt="1"/>
          </p:nvPr>
        </p:nvSpPr>
        <p:spPr>
          <a:xfrm>
            <a:off x="480318" y="1077464"/>
            <a:ext cx="11182700" cy="431254"/>
          </a:xfrm>
          <a:prstGeom prst="rect">
            <a:avLst/>
          </a:prstGeom>
        </p:spPr>
        <p:txBody>
          <a:bodyPr anchor="b" anchorCtr="0"/>
          <a:lstStyle>
            <a:lvl1pPr algn="l">
              <a:defRPr sz="2665" b="1"/>
            </a:lvl1pPr>
          </a:lstStyle>
          <a:p>
            <a:r>
              <a:rPr lang="ja-JP" altLang="en-GB" noProof="0" dirty="0"/>
              <a:t>点击</a:t>
            </a:r>
            <a:r>
              <a:rPr lang="ja-JP" altLang="en-US" noProof="0" dirty="0"/>
              <a:t>添加日程或目录标题</a:t>
            </a:r>
            <a:endParaRPr lang="en-GB" noProof="0" dirty="0"/>
          </a:p>
        </p:txBody>
      </p:sp>
      <p:sp>
        <p:nvSpPr>
          <p:cNvPr id="14" name="Date Placeholder 2"/>
          <p:cNvSpPr>
            <a:spLocks noGrp="1"/>
          </p:cNvSpPr>
          <p:nvPr>
            <p:ph type="dt" sz="half" idx="2"/>
          </p:nvPr>
        </p:nvSpPr>
        <p:spPr>
          <a:xfrm>
            <a:off x="480317" y="6556734"/>
            <a:ext cx="624199" cy="136217"/>
          </a:xfrm>
          <a:prstGeom prst="rect">
            <a:avLst/>
          </a:prstGeom>
        </p:spPr>
        <p:txBody>
          <a:bodyPr lIns="0" tIns="0" rIns="0" bIns="0" anchor="ctr" anchorCtr="0"/>
          <a:lstStyle>
            <a:lvl1pPr marL="10795" indent="0" algn="l">
              <a:defRPr sz="665" b="0" i="0">
                <a:solidFill>
                  <a:schemeClr val="bg1">
                    <a:lumMod val="50000"/>
                  </a:schemeClr>
                </a:solidFill>
                <a:latin typeface="Volvo Novum Light" panose="020B0303040502060204" pitchFamily="34" charset="77"/>
              </a:defRPr>
            </a:lvl1pPr>
          </a:lstStyle>
          <a:p>
            <a:fld id="{5EFEB322-0D13-4CB2-8E8A-2FD4FB918514}" type="datetime1">
              <a:rPr lang="en-US" smtClean="0"/>
              <a:t>6/24/2025</a:t>
            </a:fld>
            <a:endParaRPr lang="en-GB" dirty="0"/>
          </a:p>
        </p:txBody>
      </p:sp>
      <p:sp>
        <p:nvSpPr>
          <p:cNvPr id="15" name="Footer Placeholder 8"/>
          <p:cNvSpPr>
            <a:spLocks noGrp="1"/>
          </p:cNvSpPr>
          <p:nvPr>
            <p:ph type="ftr" sz="quarter" idx="3"/>
          </p:nvPr>
        </p:nvSpPr>
        <p:spPr>
          <a:xfrm>
            <a:off x="1441098" y="6554412"/>
            <a:ext cx="4462352" cy="138539"/>
          </a:xfrm>
          <a:prstGeom prst="rect">
            <a:avLst/>
          </a:prstGeom>
        </p:spPr>
        <p:txBody>
          <a:bodyPr lIns="0" tIns="0" rIns="0" bIns="0" anchor="ctr" anchorCtr="0"/>
          <a:lstStyle>
            <a:lvl1pPr algn="l">
              <a:defRPr sz="665" b="0" i="0">
                <a:solidFill>
                  <a:schemeClr val="bg1">
                    <a:lumMod val="50000"/>
                  </a:schemeClr>
                </a:solidFill>
                <a:latin typeface="Volvo Novum Light" panose="020B0303040502060204" pitchFamily="34" charset="77"/>
              </a:defRPr>
            </a:lvl1pPr>
          </a:lstStyle>
          <a:p>
            <a:r>
              <a:rPr lang="en-US" altLang="zh-CN"/>
              <a:t>APAC Learning Academy_Brand knowledge</a:t>
            </a:r>
            <a:endParaRPr lang="en-GB" dirty="0"/>
          </a:p>
        </p:txBody>
      </p:sp>
      <p:sp>
        <p:nvSpPr>
          <p:cNvPr id="18" name="Slide Number Placeholder 9"/>
          <p:cNvSpPr>
            <a:spLocks noGrp="1"/>
          </p:cNvSpPr>
          <p:nvPr>
            <p:ph type="sldNum" sz="quarter" idx="4"/>
          </p:nvPr>
        </p:nvSpPr>
        <p:spPr>
          <a:xfrm>
            <a:off x="11182068" y="6556734"/>
            <a:ext cx="481208" cy="136217"/>
          </a:xfrm>
          <a:prstGeom prst="rect">
            <a:avLst/>
          </a:prstGeom>
        </p:spPr>
        <p:txBody>
          <a:bodyPr lIns="0" tIns="0" rIns="0" bIns="0" anchor="ctr" anchorCtr="0"/>
          <a:lstStyle>
            <a:lvl1pPr algn="r">
              <a:defRPr sz="665" b="0" i="0">
                <a:solidFill>
                  <a:schemeClr val="bg1">
                    <a:lumMod val="50000"/>
                  </a:schemeClr>
                </a:solidFill>
                <a:latin typeface="Volvo Novum Light" panose="020B0303040502060204" pitchFamily="34" charset="77"/>
              </a:defRPr>
            </a:lvl1pPr>
          </a:lstStyle>
          <a:p>
            <a:fld id="{EECA8F73-ACC7-A64F-8F77-C8CBCE9A3AB4}" type="slidenum">
              <a:rPr lang="en-GB" noProof="0" smtClean="0"/>
              <a:t>‹#›</a:t>
            </a:fld>
            <a:endParaRPr lang="en-GB" noProof="0" dirty="0"/>
          </a:p>
        </p:txBody>
      </p:sp>
    </p:spTree>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sv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a:alphaModFix amt="75000"/>
            <a:lum/>
            <a:extLst>
              <a:ext uri="{96DAC541-7B7A-43D3-8B79-37D633B846F1}">
                <asvg:svgBlip xmlns:asvg="http://schemas.microsoft.com/office/drawing/2016/SVG/main" r:embed="rId15"/>
              </a:ext>
            </a:extLst>
          </a:blip>
          <a:srcRect/>
          <a:stretch>
            <a:fillRect t="-7000" b="-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C851F6-25A1-4D69-BB33-A3DA744868F1}" type="datetimeFigureOut">
              <a:rPr lang="en-US" smtClean="0"/>
              <a:t>6/24/2025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604BFA-5BA2-497B-A70A-1F06534497D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94392" y="808572"/>
            <a:ext cx="5817428" cy="4335995"/>
          </a:xfrm>
          <a:prstGeom prst="rect">
            <a:avLst/>
          </a:prstGeom>
          <a:noFill/>
        </p:spPr>
        <p:txBody>
          <a:bodyPr wrap="square" rtlCol="0">
            <a:spAutoFit/>
          </a:bodyPr>
          <a:lstStyle/>
          <a:p>
            <a:pPr marL="342900" indent="-342900">
              <a:lnSpc>
                <a:spcPct val="150000"/>
              </a:lnSpc>
              <a:spcBef>
                <a:spcPts val="2400"/>
              </a:spcBef>
              <a:buAutoNum type="arabicPeriod"/>
            </a:pPr>
            <a:r>
              <a:rPr lang="en-US" altLang="zh-CN" sz="1200" b="1" dirty="0">
                <a:solidFill>
                  <a:schemeClr val="tx2">
                    <a:lumMod val="75000"/>
                  </a:schemeClr>
                </a:solidFill>
              </a:rPr>
              <a:t>2</a:t>
            </a:r>
            <a:r>
              <a:rPr lang="zh-CN" altLang="en-US" sz="1200" b="1" dirty="0">
                <a:solidFill>
                  <a:schemeClr val="tx2">
                    <a:lumMod val="75000"/>
                  </a:schemeClr>
                </a:solidFill>
              </a:rPr>
              <a:t>年</a:t>
            </a:r>
            <a:r>
              <a:rPr lang="en-US" altLang="zh-CN" sz="1200" b="1" dirty="0">
                <a:solidFill>
                  <a:schemeClr val="tx2">
                    <a:lumMod val="75000"/>
                  </a:schemeClr>
                </a:solidFill>
              </a:rPr>
              <a:t>+Power BI</a:t>
            </a:r>
            <a:r>
              <a:rPr lang="zh-CN" altLang="en-US" sz="1200" b="1" dirty="0">
                <a:solidFill>
                  <a:schemeClr val="tx2">
                    <a:lumMod val="75000"/>
                  </a:schemeClr>
                </a:solidFill>
              </a:rPr>
              <a:t>项目实战经验</a:t>
            </a:r>
            <a:br>
              <a:rPr lang="en-US" altLang="zh-CN" sz="1200" b="1" dirty="0">
                <a:solidFill>
                  <a:schemeClr val="tx2">
                    <a:lumMod val="75000"/>
                  </a:schemeClr>
                </a:solidFill>
              </a:rPr>
            </a:br>
            <a:r>
              <a:rPr lang="en-US" altLang="zh-CN" sz="1200" b="1" dirty="0">
                <a:solidFill>
                  <a:schemeClr val="tx2">
                    <a:lumMod val="75000"/>
                  </a:schemeClr>
                </a:solidFill>
              </a:rPr>
              <a:t>Working with Power BI for More than 2 years</a:t>
            </a:r>
          </a:p>
          <a:p>
            <a:pPr marL="342900" indent="-342900">
              <a:lnSpc>
                <a:spcPct val="150000"/>
              </a:lnSpc>
              <a:spcBef>
                <a:spcPts val="2400"/>
              </a:spcBef>
              <a:buAutoNum type="arabicPeriod"/>
            </a:pPr>
            <a:r>
              <a:rPr lang="zh-CN" altLang="en-US" sz="1200" b="1" dirty="0">
                <a:solidFill>
                  <a:schemeClr val="tx2">
                    <a:lumMod val="75000"/>
                  </a:schemeClr>
                </a:solidFill>
              </a:rPr>
              <a:t>行业多面手，经验覆盖快消、零售、物流、奢侈品、咨询等诸多行业</a:t>
            </a:r>
            <a:br>
              <a:rPr lang="en-US" altLang="zh-CN" sz="1200" b="1" dirty="0">
                <a:solidFill>
                  <a:schemeClr val="tx2">
                    <a:lumMod val="75000"/>
                  </a:schemeClr>
                </a:solidFill>
              </a:rPr>
            </a:br>
            <a:r>
              <a:rPr lang="en-US" altLang="zh-CN" sz="1200" b="1" dirty="0">
                <a:solidFill>
                  <a:schemeClr val="tx2">
                    <a:lumMod val="75000"/>
                  </a:schemeClr>
                </a:solidFill>
              </a:rPr>
              <a:t>Proficient in Industries Included but not Limited to FMCG, Retail, Logistics, Luxury, Consulting</a:t>
            </a:r>
          </a:p>
          <a:p>
            <a:pPr marL="342900" indent="-342900">
              <a:lnSpc>
                <a:spcPct val="150000"/>
              </a:lnSpc>
              <a:spcBef>
                <a:spcPts val="2400"/>
              </a:spcBef>
              <a:buAutoNum type="arabicPeriod"/>
            </a:pPr>
            <a:r>
              <a:rPr lang="zh-CN" altLang="en-US" sz="1200" b="1" dirty="0">
                <a:solidFill>
                  <a:schemeClr val="tx2">
                    <a:lumMod val="75000"/>
                  </a:schemeClr>
                </a:solidFill>
              </a:rPr>
              <a:t>深耕销售、运营、人力、供应链等职能领域</a:t>
            </a:r>
            <a:br>
              <a:rPr lang="en-US" altLang="zh-CN" sz="1200" b="1" dirty="0">
                <a:solidFill>
                  <a:schemeClr val="tx2">
                    <a:lumMod val="75000"/>
                  </a:schemeClr>
                </a:solidFill>
              </a:rPr>
            </a:br>
            <a:r>
              <a:rPr lang="en-US" altLang="zh-CN" sz="1200" b="1" dirty="0">
                <a:solidFill>
                  <a:schemeClr val="tx2">
                    <a:lumMod val="75000"/>
                  </a:schemeClr>
                </a:solidFill>
              </a:rPr>
              <a:t>Proficient in Sales, Operation, HR, SCM and Other Functions</a:t>
            </a:r>
          </a:p>
          <a:p>
            <a:pPr marL="342900" indent="-342900">
              <a:lnSpc>
                <a:spcPct val="150000"/>
              </a:lnSpc>
              <a:spcBef>
                <a:spcPts val="2400"/>
              </a:spcBef>
              <a:buAutoNum type="arabicPeriod"/>
            </a:pPr>
            <a:r>
              <a:rPr lang="zh-CN" altLang="en-US" sz="1200" b="1" dirty="0">
                <a:solidFill>
                  <a:schemeClr val="tx2">
                    <a:lumMod val="75000"/>
                  </a:schemeClr>
                </a:solidFill>
              </a:rPr>
              <a:t>不止于</a:t>
            </a:r>
            <a:r>
              <a:rPr lang="en-US" altLang="zh-CN" sz="1200" b="1" dirty="0">
                <a:solidFill>
                  <a:schemeClr val="tx2">
                    <a:lumMod val="75000"/>
                  </a:schemeClr>
                </a:solidFill>
              </a:rPr>
              <a:t>BI</a:t>
            </a:r>
            <a:r>
              <a:rPr lang="zh-CN" altLang="en-US" sz="1200" b="1" dirty="0">
                <a:solidFill>
                  <a:schemeClr val="tx2">
                    <a:lumMod val="75000"/>
                  </a:schemeClr>
                </a:solidFill>
              </a:rPr>
              <a:t>，长期研究多工具协同</a:t>
            </a:r>
            <a:br>
              <a:rPr lang="en-US" altLang="zh-CN" sz="1200" b="1" dirty="0">
                <a:solidFill>
                  <a:schemeClr val="tx2">
                    <a:lumMod val="75000"/>
                  </a:schemeClr>
                </a:solidFill>
              </a:rPr>
            </a:br>
            <a:r>
              <a:rPr lang="en-US" altLang="zh-CN" sz="1200" b="1" dirty="0">
                <a:solidFill>
                  <a:schemeClr val="tx2">
                    <a:lumMod val="75000"/>
                  </a:schemeClr>
                </a:solidFill>
              </a:rPr>
              <a:t>More than BI, Explore Multi-tool Collaboration</a:t>
            </a:r>
          </a:p>
          <a:p>
            <a:pPr marL="342900" indent="-342900">
              <a:lnSpc>
                <a:spcPct val="150000"/>
              </a:lnSpc>
              <a:spcBef>
                <a:spcPts val="2400"/>
              </a:spcBef>
              <a:buAutoNum type="arabicPeriod"/>
            </a:pPr>
            <a:r>
              <a:rPr lang="zh-CN" altLang="en-US" sz="1200" b="1" dirty="0">
                <a:solidFill>
                  <a:schemeClr val="tx2">
                    <a:lumMod val="75000"/>
                  </a:schemeClr>
                </a:solidFill>
              </a:rPr>
              <a:t>擅长提供业务导向型解决方案</a:t>
            </a:r>
            <a:br>
              <a:rPr lang="en-US" altLang="zh-CN" sz="1200" b="1" dirty="0">
                <a:solidFill>
                  <a:schemeClr val="tx2">
                    <a:lumMod val="75000"/>
                  </a:schemeClr>
                </a:solidFill>
              </a:rPr>
            </a:br>
            <a:r>
              <a:rPr lang="en-US" altLang="zh-CN" sz="1200" b="1" dirty="0">
                <a:solidFill>
                  <a:schemeClr val="tx2">
                    <a:lumMod val="75000"/>
                  </a:schemeClr>
                </a:solidFill>
              </a:rPr>
              <a:t>Good at Designing Business-oriented Solution</a:t>
            </a:r>
          </a:p>
        </p:txBody>
      </p:sp>
      <p:sp>
        <p:nvSpPr>
          <p:cNvPr id="5" name="TextBox 4"/>
          <p:cNvSpPr txBox="1"/>
          <p:nvPr/>
        </p:nvSpPr>
        <p:spPr>
          <a:xfrm>
            <a:off x="732868" y="3283559"/>
            <a:ext cx="4866856" cy="337185"/>
          </a:xfrm>
          <a:prstGeom prst="rect">
            <a:avLst/>
          </a:prstGeom>
          <a:noFill/>
        </p:spPr>
        <p:txBody>
          <a:bodyPr wrap="square" rtlCol="0">
            <a:spAutoFit/>
          </a:bodyPr>
          <a:lstStyle/>
          <a:p>
            <a:pPr>
              <a:spcBef>
                <a:spcPts val="2400"/>
              </a:spcBef>
            </a:pPr>
            <a:r>
              <a:rPr lang="zh-CN" altLang="en-US" sz="1600" b="1" dirty="0">
                <a:solidFill>
                  <a:schemeClr val="tx2">
                    <a:lumMod val="75000"/>
                  </a:schemeClr>
                </a:solidFill>
              </a:rPr>
              <a:t>周羽璇 </a:t>
            </a:r>
            <a:r>
              <a:rPr lang="en-US" altLang="zh-CN" sz="1600" b="1" dirty="0">
                <a:solidFill>
                  <a:schemeClr val="tx2">
                    <a:lumMod val="75000"/>
                  </a:schemeClr>
                </a:solidFill>
              </a:rPr>
              <a:t>(Zoe)</a:t>
            </a:r>
            <a:endParaRPr lang="en-US" altLang="zh-CN" sz="1200" b="1" dirty="0">
              <a:solidFill>
                <a:schemeClr val="tx2">
                  <a:lumMod val="75000"/>
                </a:schemeClr>
              </a:solidFill>
            </a:endParaRPr>
          </a:p>
        </p:txBody>
      </p:sp>
      <p:sp>
        <p:nvSpPr>
          <p:cNvPr id="14" name="TextBox 13"/>
          <p:cNvSpPr txBox="1"/>
          <p:nvPr/>
        </p:nvSpPr>
        <p:spPr>
          <a:xfrm>
            <a:off x="732867" y="3689040"/>
            <a:ext cx="5015925" cy="1414780"/>
          </a:xfrm>
          <a:prstGeom prst="rect">
            <a:avLst/>
          </a:prstGeom>
          <a:noFill/>
        </p:spPr>
        <p:txBody>
          <a:bodyPr wrap="square" rtlCol="0">
            <a:spAutoFit/>
          </a:bodyPr>
          <a:lstStyle/>
          <a:p>
            <a:r>
              <a:rPr lang="zh-CN" altLang="en-US" sz="1200" b="1" dirty="0">
                <a:solidFill>
                  <a:srgbClr val="333F50"/>
                </a:solidFill>
              </a:rPr>
              <a:t>证书</a:t>
            </a:r>
            <a:endParaRPr lang="en-US" altLang="zh-CN" sz="1200" b="1" dirty="0">
              <a:solidFill>
                <a:srgbClr val="333F50"/>
              </a:solidFill>
            </a:endParaRPr>
          </a:p>
          <a:p>
            <a:r>
              <a:rPr lang="zh-CN" altLang="en-US" sz="1200" b="1" dirty="0">
                <a:solidFill>
                  <a:srgbClr val="333F50"/>
                </a:solidFill>
              </a:rPr>
              <a:t>微软认证</a:t>
            </a:r>
            <a:r>
              <a:rPr lang="en-US" altLang="zh-CN" sz="1200" b="1" dirty="0">
                <a:solidFill>
                  <a:srgbClr val="333F50"/>
                </a:solidFill>
              </a:rPr>
              <a:t>BI</a:t>
            </a:r>
            <a:r>
              <a:rPr lang="zh-CN" altLang="en-US" sz="1200" b="1" dirty="0">
                <a:solidFill>
                  <a:srgbClr val="333F50"/>
                </a:solidFill>
              </a:rPr>
              <a:t>分析师，项目管理专业人士资格认证，</a:t>
            </a:r>
            <a:endParaRPr lang="en-US" altLang="zh-CN" sz="1200" b="1" dirty="0">
              <a:solidFill>
                <a:srgbClr val="333F50"/>
              </a:solidFill>
            </a:endParaRPr>
          </a:p>
          <a:p>
            <a:r>
              <a:rPr lang="zh-CN" altLang="en-US" sz="1200" b="1" dirty="0">
                <a:solidFill>
                  <a:srgbClr val="333F50"/>
                </a:solidFill>
              </a:rPr>
              <a:t>英语四六级，雅思</a:t>
            </a:r>
            <a:r>
              <a:rPr lang="en-US" altLang="zh-CN" sz="1200" b="1" dirty="0">
                <a:solidFill>
                  <a:srgbClr val="333F50"/>
                </a:solidFill>
              </a:rPr>
              <a:t>6.5</a:t>
            </a:r>
          </a:p>
          <a:p>
            <a:r>
              <a:rPr lang="en-US" altLang="zh-CN" sz="1200" b="1" dirty="0">
                <a:solidFill>
                  <a:schemeClr val="tx2">
                    <a:lumMod val="75000"/>
                  </a:schemeClr>
                </a:solidFill>
              </a:rPr>
              <a:t>Microsoft Certified BI Analyst</a:t>
            </a:r>
            <a:r>
              <a:rPr lang="pt-BR" sz="1200" b="1" dirty="0">
                <a:solidFill>
                  <a:srgbClr val="333F50"/>
                </a:solidFill>
              </a:rPr>
              <a:t>, PMP, CET4&amp;6, IELTS 6.5 </a:t>
            </a:r>
          </a:p>
          <a:p>
            <a:endParaRPr lang="pt-BR" sz="1400" b="1" dirty="0">
              <a:solidFill>
                <a:srgbClr val="333F50"/>
              </a:solidFill>
            </a:endParaRPr>
          </a:p>
          <a:p>
            <a:r>
              <a:rPr lang="zh-CN" altLang="en-US" sz="1200" b="1" dirty="0">
                <a:solidFill>
                  <a:srgbClr val="333F50"/>
                </a:solidFill>
              </a:rPr>
              <a:t>技能</a:t>
            </a:r>
            <a:endParaRPr lang="pt-BR" altLang="zh-CN" sz="1200" b="1" dirty="0">
              <a:solidFill>
                <a:srgbClr val="333F50"/>
              </a:solidFill>
            </a:endParaRPr>
          </a:p>
          <a:p>
            <a:r>
              <a:rPr lang="pt-BR" sz="1200" b="1" dirty="0">
                <a:solidFill>
                  <a:srgbClr val="333F50"/>
                </a:solidFill>
              </a:rPr>
              <a:t>Power BI, </a:t>
            </a:r>
            <a:r>
              <a:rPr lang="en-US" altLang="pt-BR" sz="1200" b="1" dirty="0">
                <a:solidFill>
                  <a:srgbClr val="333F50"/>
                </a:solidFill>
              </a:rPr>
              <a:t>Python</a:t>
            </a:r>
            <a:r>
              <a:rPr lang="pt-BR" sz="1200" b="1" dirty="0">
                <a:solidFill>
                  <a:srgbClr val="333F50"/>
                </a:solidFill>
              </a:rPr>
              <a:t>, </a:t>
            </a:r>
            <a:r>
              <a:rPr lang="en-US" altLang="pt-BR" sz="1200" b="1" dirty="0">
                <a:solidFill>
                  <a:srgbClr val="333F50"/>
                </a:solidFill>
              </a:rPr>
              <a:t>Matlab</a:t>
            </a:r>
            <a:r>
              <a:rPr lang="pt-BR" sz="1200" b="1" dirty="0">
                <a:solidFill>
                  <a:srgbClr val="333F50"/>
                </a:solidFill>
              </a:rPr>
              <a:t>, </a:t>
            </a:r>
            <a:r>
              <a:rPr lang="en-US" altLang="pt-BR" sz="1200" b="1" dirty="0">
                <a:solidFill>
                  <a:srgbClr val="333F50"/>
                </a:solidFill>
              </a:rPr>
              <a:t>PPT</a:t>
            </a:r>
            <a:r>
              <a:rPr lang="pt-BR" sz="1200" b="1" dirty="0">
                <a:solidFill>
                  <a:srgbClr val="333F50"/>
                </a:solidFill>
              </a:rPr>
              <a:t>, Excel, SQL</a:t>
            </a:r>
          </a:p>
        </p:txBody>
      </p:sp>
      <p:pic>
        <p:nvPicPr>
          <p:cNvPr id="4" name="图片 3" descr="微笑的小孩&#10;&#10;AI 生成的内容可能不正确。">
            <a:extLst>
              <a:ext uri="{FF2B5EF4-FFF2-40B4-BE49-F238E27FC236}">
                <a16:creationId xmlns:a16="http://schemas.microsoft.com/office/drawing/2014/main" id="{BA901335-7EEA-29DE-4FFE-289D5EF83C7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9161" y="764949"/>
            <a:ext cx="1673347" cy="234268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83412" y="590777"/>
            <a:ext cx="5817428" cy="1092928"/>
          </a:xfrm>
          <a:prstGeom prst="rect">
            <a:avLst/>
          </a:prstGeom>
          <a:noFill/>
        </p:spPr>
        <p:txBody>
          <a:bodyPr wrap="square" rtlCol="0">
            <a:spAutoFit/>
          </a:bodyPr>
          <a:lstStyle/>
          <a:p>
            <a:pPr>
              <a:lnSpc>
                <a:spcPct val="150000"/>
              </a:lnSpc>
              <a:spcBef>
                <a:spcPts val="2400"/>
              </a:spcBef>
            </a:pPr>
            <a:r>
              <a:rPr lang="zh-CN" altLang="en-US" sz="1600" b="1" dirty="0">
                <a:solidFill>
                  <a:schemeClr val="tx2">
                    <a:lumMod val="75000"/>
                  </a:schemeClr>
                </a:solidFill>
              </a:rPr>
              <a:t>项目经验</a:t>
            </a:r>
            <a:endParaRPr lang="en-US" altLang="zh-CN" sz="1600" b="1" dirty="0">
              <a:solidFill>
                <a:schemeClr val="tx2">
                  <a:lumMod val="75000"/>
                </a:schemeClr>
              </a:solidFill>
            </a:endParaRPr>
          </a:p>
          <a:p>
            <a:pPr marL="342900" indent="-342900">
              <a:lnSpc>
                <a:spcPct val="150000"/>
              </a:lnSpc>
              <a:spcBef>
                <a:spcPts val="2400"/>
              </a:spcBef>
              <a:buAutoNum type="arabicPeriod"/>
            </a:pPr>
            <a:endParaRPr lang="en-US" altLang="zh-CN" sz="1600" b="1" dirty="0">
              <a:solidFill>
                <a:schemeClr val="tx2">
                  <a:lumMod val="75000"/>
                </a:schemeClr>
              </a:solidFill>
            </a:endParaRPr>
          </a:p>
        </p:txBody>
      </p:sp>
      <p:sp>
        <p:nvSpPr>
          <p:cNvPr id="3" name="TextBox 2"/>
          <p:cNvSpPr txBox="1"/>
          <p:nvPr/>
        </p:nvSpPr>
        <p:spPr>
          <a:xfrm>
            <a:off x="983412" y="1137241"/>
            <a:ext cx="5027774" cy="5020798"/>
          </a:xfrm>
          <a:prstGeom prst="rect">
            <a:avLst/>
          </a:prstGeom>
          <a:noFill/>
        </p:spPr>
        <p:txBody>
          <a:bodyPr wrap="square" rtlCol="0">
            <a:spAutoFit/>
          </a:bodyPr>
          <a:lstStyle/>
          <a:p>
            <a:pPr>
              <a:lnSpc>
                <a:spcPct val="150000"/>
              </a:lnSpc>
            </a:pPr>
            <a:r>
              <a:rPr lang="en-US" sz="1200" b="1" dirty="0">
                <a:solidFill>
                  <a:srgbClr val="333F50"/>
                </a:solidFill>
              </a:rPr>
              <a:t>Chanel</a:t>
            </a:r>
          </a:p>
          <a:p>
            <a:pPr>
              <a:lnSpc>
                <a:spcPct val="150000"/>
              </a:lnSpc>
            </a:pPr>
            <a:r>
              <a:rPr lang="zh-CN" altLang="en-US" sz="1200" b="1" dirty="0">
                <a:solidFill>
                  <a:srgbClr val="333F50"/>
                </a:solidFill>
                <a:latin typeface="+mn-ea"/>
              </a:rPr>
              <a:t>业务部门：市场</a:t>
            </a:r>
            <a:r>
              <a:rPr lang="en-US" altLang="zh-CN" sz="1200" b="1" dirty="0">
                <a:solidFill>
                  <a:srgbClr val="333F50"/>
                </a:solidFill>
                <a:latin typeface="+mn-ea"/>
              </a:rPr>
              <a:t>/</a:t>
            </a:r>
            <a:r>
              <a:rPr lang="zh-CN" altLang="en-US" sz="1200" b="1" dirty="0">
                <a:solidFill>
                  <a:srgbClr val="333F50"/>
                </a:solidFill>
                <a:latin typeface="+mn-ea"/>
              </a:rPr>
              <a:t>销售</a:t>
            </a:r>
            <a:r>
              <a:rPr lang="en-US" altLang="zh-CN" sz="1200" b="1" dirty="0">
                <a:solidFill>
                  <a:srgbClr val="333F50"/>
                </a:solidFill>
                <a:latin typeface="+mn-ea"/>
              </a:rPr>
              <a:t>/</a:t>
            </a:r>
            <a:r>
              <a:rPr lang="zh-CN" altLang="en-US" sz="1200" b="1" dirty="0">
                <a:solidFill>
                  <a:srgbClr val="333F50"/>
                </a:solidFill>
                <a:latin typeface="+mn-ea"/>
              </a:rPr>
              <a:t>供应链</a:t>
            </a:r>
            <a:r>
              <a:rPr lang="en-US" altLang="zh-CN" sz="1200" b="1" dirty="0">
                <a:solidFill>
                  <a:srgbClr val="333F50"/>
                </a:solidFill>
                <a:latin typeface="+mn-ea"/>
              </a:rPr>
              <a:t>/</a:t>
            </a:r>
            <a:r>
              <a:rPr lang="zh-CN" altLang="en-US" sz="1200" b="1" dirty="0">
                <a:solidFill>
                  <a:srgbClr val="333F50"/>
                </a:solidFill>
                <a:latin typeface="+mn-ea"/>
              </a:rPr>
              <a:t>财务</a:t>
            </a:r>
          </a:p>
          <a:p>
            <a:pPr>
              <a:lnSpc>
                <a:spcPct val="150000"/>
              </a:lnSpc>
            </a:pPr>
            <a:r>
              <a:rPr lang="zh-CN" altLang="en-US" sz="1200" b="1" dirty="0">
                <a:solidFill>
                  <a:srgbClr val="333F50"/>
                </a:solidFill>
                <a:latin typeface="+mn-ea"/>
              </a:rPr>
              <a:t>服务时长：</a:t>
            </a:r>
            <a:r>
              <a:rPr lang="en-US" altLang="zh-CN" sz="1200" b="1" dirty="0">
                <a:solidFill>
                  <a:srgbClr val="333F50"/>
                </a:solidFill>
                <a:latin typeface="+mn-ea"/>
              </a:rPr>
              <a:t>9</a:t>
            </a:r>
            <a:r>
              <a:rPr lang="zh-CN" altLang="en-US" sz="1200" b="1" dirty="0">
                <a:solidFill>
                  <a:srgbClr val="333F50"/>
                </a:solidFill>
                <a:latin typeface="+mn-ea"/>
              </a:rPr>
              <a:t>个月（</a:t>
            </a:r>
            <a:r>
              <a:rPr lang="en-US" altLang="zh-CN" sz="1200" b="1" dirty="0">
                <a:solidFill>
                  <a:srgbClr val="333F50"/>
                </a:solidFill>
                <a:latin typeface="+mn-ea"/>
              </a:rPr>
              <a:t>2024.10-</a:t>
            </a:r>
            <a:r>
              <a:rPr lang="zh-CN" altLang="en-US" sz="1200" b="1" dirty="0">
                <a:solidFill>
                  <a:srgbClr val="333F50"/>
                </a:solidFill>
                <a:latin typeface="+mn-ea"/>
              </a:rPr>
              <a:t>至今）</a:t>
            </a:r>
            <a:endParaRPr lang="en-US" altLang="zh-CN" sz="1200" b="1" dirty="0">
              <a:solidFill>
                <a:srgbClr val="333F50"/>
              </a:solidFill>
              <a:latin typeface="+mn-ea"/>
            </a:endParaRPr>
          </a:p>
          <a:p>
            <a:pPr>
              <a:lnSpc>
                <a:spcPct val="150000"/>
              </a:lnSpc>
            </a:pPr>
            <a:r>
              <a:rPr lang="zh-CN" altLang="en-US" sz="1200" b="1" dirty="0">
                <a:solidFill>
                  <a:srgbClr val="333F50"/>
                </a:solidFill>
                <a:latin typeface="+mn-ea"/>
              </a:rPr>
              <a:t>主要交付内容：零售业务分析报告，财务分析报告，库存管理报告</a:t>
            </a:r>
            <a:endParaRPr lang="en-US" altLang="zh-CN" sz="1200" b="1" dirty="0">
              <a:solidFill>
                <a:srgbClr val="333F50"/>
              </a:solidFill>
              <a:latin typeface="+mn-ea"/>
            </a:endParaRPr>
          </a:p>
          <a:p>
            <a:endParaRPr lang="en-US" sz="1200" b="1" dirty="0">
              <a:solidFill>
                <a:srgbClr val="333F50"/>
              </a:solidFill>
              <a:latin typeface="+mn-ea"/>
              <a:ea typeface="+mj-ea"/>
            </a:endParaRPr>
          </a:p>
          <a:p>
            <a:endParaRPr lang="en-US" sz="1200" dirty="0">
              <a:solidFill>
                <a:srgbClr val="333F50"/>
              </a:solidFill>
              <a:latin typeface="+mj-ea"/>
              <a:ea typeface="+mj-ea"/>
            </a:endParaRPr>
          </a:p>
          <a:p>
            <a:pPr>
              <a:lnSpc>
                <a:spcPct val="150000"/>
              </a:lnSpc>
            </a:pPr>
            <a:r>
              <a:rPr lang="en-US" sz="1200" b="1" dirty="0">
                <a:solidFill>
                  <a:srgbClr val="333F50"/>
                </a:solidFill>
              </a:rPr>
              <a:t>LVMH</a:t>
            </a:r>
          </a:p>
          <a:p>
            <a:pPr>
              <a:lnSpc>
                <a:spcPct val="150000"/>
              </a:lnSpc>
            </a:pPr>
            <a:r>
              <a:rPr lang="zh-CN" altLang="en-US" sz="1200" b="1" dirty="0">
                <a:solidFill>
                  <a:srgbClr val="333F50"/>
                </a:solidFill>
                <a:latin typeface="+mn-ea"/>
              </a:rPr>
              <a:t>业务部门：销售</a:t>
            </a:r>
            <a:r>
              <a:rPr lang="en-US" altLang="zh-CN" sz="1200" b="1" dirty="0">
                <a:solidFill>
                  <a:srgbClr val="333F50"/>
                </a:solidFill>
                <a:latin typeface="+mn-ea"/>
              </a:rPr>
              <a:t>/</a:t>
            </a:r>
            <a:r>
              <a:rPr lang="zh-CN" altLang="en-US" sz="1200" b="1" dirty="0">
                <a:solidFill>
                  <a:srgbClr val="333F50"/>
                </a:solidFill>
                <a:latin typeface="+mn-ea"/>
              </a:rPr>
              <a:t>运营</a:t>
            </a:r>
          </a:p>
          <a:p>
            <a:pPr>
              <a:lnSpc>
                <a:spcPct val="150000"/>
              </a:lnSpc>
            </a:pPr>
            <a:r>
              <a:rPr lang="zh-CN" altLang="en-US" sz="1200" b="1" dirty="0">
                <a:solidFill>
                  <a:srgbClr val="333F50"/>
                </a:solidFill>
                <a:latin typeface="+mn-ea"/>
              </a:rPr>
              <a:t>服务时长：</a:t>
            </a:r>
            <a:r>
              <a:rPr lang="en-US" altLang="zh-CN" sz="1200" b="1" dirty="0">
                <a:solidFill>
                  <a:srgbClr val="333F50"/>
                </a:solidFill>
                <a:latin typeface="+mn-ea"/>
              </a:rPr>
              <a:t>6</a:t>
            </a:r>
            <a:r>
              <a:rPr lang="zh-CN" altLang="en-US" sz="1200" b="1" dirty="0">
                <a:solidFill>
                  <a:srgbClr val="333F50"/>
                </a:solidFill>
                <a:latin typeface="+mn-ea"/>
              </a:rPr>
              <a:t>个月（</a:t>
            </a:r>
            <a:r>
              <a:rPr lang="en-US" altLang="zh-CN" sz="1200" b="1" dirty="0">
                <a:solidFill>
                  <a:srgbClr val="333F50"/>
                </a:solidFill>
                <a:latin typeface="+mn-ea"/>
              </a:rPr>
              <a:t>2025.01-2025.06</a:t>
            </a:r>
            <a:r>
              <a:rPr lang="zh-CN" altLang="en-US" sz="1200" b="1" dirty="0">
                <a:solidFill>
                  <a:srgbClr val="333F50"/>
                </a:solidFill>
                <a:latin typeface="+mn-ea"/>
              </a:rPr>
              <a:t>）</a:t>
            </a:r>
            <a:endParaRPr lang="en-US" altLang="zh-CN" sz="1200" b="1" dirty="0">
              <a:solidFill>
                <a:srgbClr val="333F50"/>
              </a:solidFill>
              <a:latin typeface="+mn-ea"/>
            </a:endParaRPr>
          </a:p>
          <a:p>
            <a:pPr>
              <a:lnSpc>
                <a:spcPct val="150000"/>
              </a:lnSpc>
            </a:pPr>
            <a:r>
              <a:rPr lang="zh-CN" altLang="en-US" sz="1200" b="1" dirty="0">
                <a:solidFill>
                  <a:srgbClr val="333F50"/>
                </a:solidFill>
                <a:latin typeface="+mn-ea"/>
              </a:rPr>
              <a:t>主要交付内容：零售业务分析报告， </a:t>
            </a:r>
            <a:r>
              <a:rPr lang="en-US" altLang="zh-CN" sz="1200" b="1" dirty="0">
                <a:solidFill>
                  <a:srgbClr val="333F50"/>
                </a:solidFill>
                <a:latin typeface="+mn-ea"/>
              </a:rPr>
              <a:t>CRM</a:t>
            </a:r>
            <a:r>
              <a:rPr lang="zh-CN" altLang="en-US" sz="1200" b="1" dirty="0">
                <a:solidFill>
                  <a:srgbClr val="333F50"/>
                </a:solidFill>
                <a:latin typeface="+mn-ea"/>
              </a:rPr>
              <a:t>报告，电商分析报告</a:t>
            </a:r>
            <a:endParaRPr lang="en-US" altLang="zh-CN" sz="1200" b="1" dirty="0">
              <a:solidFill>
                <a:srgbClr val="333F50"/>
              </a:solidFill>
              <a:latin typeface="+mn-ea"/>
            </a:endParaRPr>
          </a:p>
          <a:p>
            <a:endParaRPr lang="en-US" sz="1200" dirty="0">
              <a:solidFill>
                <a:srgbClr val="333F50"/>
              </a:solidFill>
              <a:latin typeface="+mj-ea"/>
              <a:ea typeface="+mj-ea"/>
            </a:endParaRPr>
          </a:p>
          <a:p>
            <a:endParaRPr lang="en-US" sz="1200" dirty="0">
              <a:solidFill>
                <a:srgbClr val="333F50"/>
              </a:solidFill>
              <a:latin typeface="+mj-ea"/>
              <a:ea typeface="+mj-ea"/>
            </a:endParaRPr>
          </a:p>
          <a:p>
            <a:pPr>
              <a:lnSpc>
                <a:spcPct val="150000"/>
              </a:lnSpc>
            </a:pPr>
            <a:r>
              <a:rPr lang="en-US" sz="1200" b="1" dirty="0">
                <a:solidFill>
                  <a:srgbClr val="333F50"/>
                </a:solidFill>
              </a:rPr>
              <a:t>Rockwell</a:t>
            </a:r>
          </a:p>
          <a:p>
            <a:pPr>
              <a:lnSpc>
                <a:spcPct val="150000"/>
              </a:lnSpc>
            </a:pPr>
            <a:r>
              <a:rPr lang="zh-CN" altLang="en-US" sz="1200" b="1" dirty="0">
                <a:solidFill>
                  <a:srgbClr val="333F50"/>
                </a:solidFill>
                <a:latin typeface="+mn-ea"/>
              </a:rPr>
              <a:t>业务部门：销售</a:t>
            </a:r>
            <a:r>
              <a:rPr lang="en-US" altLang="zh-CN" sz="1200" b="1" dirty="0">
                <a:solidFill>
                  <a:srgbClr val="333F50"/>
                </a:solidFill>
                <a:latin typeface="+mn-ea"/>
              </a:rPr>
              <a:t>/</a:t>
            </a:r>
            <a:r>
              <a:rPr lang="zh-CN" altLang="en-US" sz="1200" b="1" dirty="0">
                <a:solidFill>
                  <a:srgbClr val="333F50"/>
                </a:solidFill>
                <a:latin typeface="+mn-ea"/>
              </a:rPr>
              <a:t>运营</a:t>
            </a:r>
          </a:p>
          <a:p>
            <a:pPr>
              <a:lnSpc>
                <a:spcPct val="150000"/>
              </a:lnSpc>
            </a:pPr>
            <a:r>
              <a:rPr lang="zh-CN" altLang="en-US" sz="1200" b="1" dirty="0">
                <a:solidFill>
                  <a:srgbClr val="333F50"/>
                </a:solidFill>
                <a:latin typeface="+mn-ea"/>
              </a:rPr>
              <a:t>服务时长：长期运维与</a:t>
            </a:r>
            <a:r>
              <a:rPr lang="zh-CN" sz="1200" b="1" dirty="0">
                <a:solidFill>
                  <a:srgbClr val="333F50"/>
                </a:solidFill>
                <a:latin typeface="+mn-ea"/>
              </a:rPr>
              <a:t>优化</a:t>
            </a:r>
            <a:r>
              <a:rPr lang="zh-CN" altLang="en-US" sz="1200" b="1" dirty="0">
                <a:solidFill>
                  <a:srgbClr val="333F50"/>
                </a:solidFill>
                <a:latin typeface="+mn-ea"/>
              </a:rPr>
              <a:t>（</a:t>
            </a:r>
            <a:r>
              <a:rPr lang="en-US" altLang="zh-CN" sz="1200" b="1" dirty="0">
                <a:solidFill>
                  <a:srgbClr val="333F50"/>
                </a:solidFill>
                <a:latin typeface="+mn-ea"/>
              </a:rPr>
              <a:t>2024.1-</a:t>
            </a:r>
            <a:r>
              <a:rPr lang="zh-CN" altLang="en-US" sz="1200" b="1" dirty="0">
                <a:solidFill>
                  <a:srgbClr val="333F50"/>
                </a:solidFill>
                <a:latin typeface="+mn-ea"/>
              </a:rPr>
              <a:t>至今）</a:t>
            </a:r>
            <a:endParaRPr lang="en-US" altLang="zh-CN" sz="1200" b="1" dirty="0">
              <a:solidFill>
                <a:srgbClr val="333F50"/>
              </a:solidFill>
              <a:latin typeface="+mn-ea"/>
            </a:endParaRPr>
          </a:p>
          <a:p>
            <a:pPr>
              <a:lnSpc>
                <a:spcPct val="150000"/>
              </a:lnSpc>
            </a:pPr>
            <a:r>
              <a:rPr lang="zh-CN" altLang="en-US" sz="1200" b="1" dirty="0">
                <a:solidFill>
                  <a:srgbClr val="333F50"/>
                </a:solidFill>
                <a:latin typeface="+mn-ea"/>
              </a:rPr>
              <a:t>主要交付内容</a:t>
            </a:r>
            <a:r>
              <a:rPr lang="zh-CN" altLang="en-US" sz="1200" b="1" dirty="0">
                <a:solidFill>
                  <a:srgbClr val="333F50"/>
                </a:solidFill>
                <a:latin typeface="+mj-ea"/>
                <a:ea typeface="+mj-ea"/>
              </a:rPr>
              <a:t>：销售流程分析报告，销售机会分析报告，人员效能分析报告，订单业绩分析报告</a:t>
            </a:r>
            <a:endParaRPr lang="en-US" altLang="zh-CN" sz="1200" b="1" dirty="0">
              <a:solidFill>
                <a:srgbClr val="333F50"/>
              </a:solidFill>
              <a:latin typeface="+mj-ea"/>
              <a:ea typeface="+mj-ea"/>
            </a:endParaRPr>
          </a:p>
          <a:p>
            <a:endParaRPr lang="en-US" altLang="zh-CN" sz="1200" dirty="0">
              <a:solidFill>
                <a:srgbClr val="333F50"/>
              </a:solidFill>
              <a:latin typeface="+mj-ea"/>
              <a:ea typeface="+mj-ea"/>
            </a:endParaRPr>
          </a:p>
          <a:p>
            <a:endParaRPr lang="en-US" sz="1050" b="1" dirty="0">
              <a:solidFill>
                <a:srgbClr val="333F50"/>
              </a:solidFill>
            </a:endParaRPr>
          </a:p>
          <a:p>
            <a:pPr>
              <a:lnSpc>
                <a:spcPct val="150000"/>
              </a:lnSpc>
            </a:pPr>
            <a:endParaRPr lang="en-US" sz="1200" b="1" dirty="0"/>
          </a:p>
        </p:txBody>
      </p:sp>
      <p:sp>
        <p:nvSpPr>
          <p:cNvPr id="4" name="TextBox 3"/>
          <p:cNvSpPr txBox="1"/>
          <p:nvPr/>
        </p:nvSpPr>
        <p:spPr>
          <a:xfrm>
            <a:off x="6244248" y="1137241"/>
            <a:ext cx="5277192" cy="4651466"/>
          </a:xfrm>
          <a:prstGeom prst="rect">
            <a:avLst/>
          </a:prstGeom>
          <a:noFill/>
        </p:spPr>
        <p:txBody>
          <a:bodyPr wrap="square" rtlCol="0">
            <a:spAutoFit/>
          </a:bodyPr>
          <a:lstStyle/>
          <a:p>
            <a:pPr>
              <a:lnSpc>
                <a:spcPct val="150000"/>
              </a:lnSpc>
            </a:pPr>
            <a:r>
              <a:rPr lang="zh-CN" altLang="en-US" sz="1200" b="1" dirty="0">
                <a:solidFill>
                  <a:srgbClr val="333F50"/>
                </a:solidFill>
              </a:rPr>
              <a:t>蒙牛</a:t>
            </a:r>
            <a:endParaRPr lang="en-US" sz="1200" b="1" dirty="0">
              <a:solidFill>
                <a:srgbClr val="333F50"/>
              </a:solidFill>
            </a:endParaRPr>
          </a:p>
          <a:p>
            <a:pPr>
              <a:lnSpc>
                <a:spcPct val="150000"/>
              </a:lnSpc>
            </a:pPr>
            <a:r>
              <a:rPr lang="zh-CN" altLang="en-US" sz="1200" b="1" dirty="0">
                <a:solidFill>
                  <a:srgbClr val="333F50"/>
                </a:solidFill>
                <a:latin typeface="+mn-ea"/>
              </a:rPr>
              <a:t>业务部门：销售</a:t>
            </a:r>
            <a:r>
              <a:rPr lang="en-US" altLang="zh-CN" sz="1200" b="1" dirty="0">
                <a:solidFill>
                  <a:srgbClr val="333F50"/>
                </a:solidFill>
                <a:latin typeface="+mn-ea"/>
              </a:rPr>
              <a:t>/</a:t>
            </a:r>
            <a:r>
              <a:rPr lang="zh-CN" altLang="en-US" sz="1200" b="1" dirty="0">
                <a:solidFill>
                  <a:srgbClr val="333F50"/>
                </a:solidFill>
                <a:latin typeface="+mn-ea"/>
              </a:rPr>
              <a:t>运营</a:t>
            </a:r>
          </a:p>
          <a:p>
            <a:pPr>
              <a:lnSpc>
                <a:spcPct val="150000"/>
              </a:lnSpc>
            </a:pPr>
            <a:r>
              <a:rPr lang="zh-CN" altLang="en-US" sz="1200" b="1" dirty="0">
                <a:solidFill>
                  <a:srgbClr val="333F50"/>
                </a:solidFill>
                <a:latin typeface="+mn-ea"/>
              </a:rPr>
              <a:t>服务时长：</a:t>
            </a:r>
            <a:r>
              <a:rPr lang="en-US" altLang="zh-CN" sz="1200" b="1" dirty="0">
                <a:solidFill>
                  <a:srgbClr val="333F50"/>
                </a:solidFill>
                <a:latin typeface="+mn-ea"/>
              </a:rPr>
              <a:t>12</a:t>
            </a:r>
            <a:r>
              <a:rPr lang="zh-CN" altLang="en-US" sz="1200" b="1" dirty="0">
                <a:solidFill>
                  <a:srgbClr val="333F50"/>
                </a:solidFill>
                <a:latin typeface="+mn-ea"/>
              </a:rPr>
              <a:t>个月（</a:t>
            </a:r>
            <a:r>
              <a:rPr lang="en-US" altLang="zh-CN" sz="1200" b="1" dirty="0">
                <a:solidFill>
                  <a:srgbClr val="333F50"/>
                </a:solidFill>
                <a:latin typeface="+mn-ea"/>
              </a:rPr>
              <a:t>2024.03-2025.2</a:t>
            </a:r>
            <a:r>
              <a:rPr lang="zh-CN" altLang="en-US" sz="1200" b="1" dirty="0">
                <a:solidFill>
                  <a:srgbClr val="333F50"/>
                </a:solidFill>
                <a:latin typeface="+mn-ea"/>
              </a:rPr>
              <a:t>）</a:t>
            </a:r>
            <a:endParaRPr lang="en-US" altLang="zh-CN" sz="1200" b="1" dirty="0">
              <a:solidFill>
                <a:srgbClr val="333F50"/>
              </a:solidFill>
              <a:latin typeface="+mn-ea"/>
            </a:endParaRPr>
          </a:p>
          <a:p>
            <a:pPr>
              <a:lnSpc>
                <a:spcPct val="150000"/>
              </a:lnSpc>
            </a:pPr>
            <a:r>
              <a:rPr lang="zh-CN" altLang="en-US" sz="1200" b="1" dirty="0">
                <a:solidFill>
                  <a:srgbClr val="333F50"/>
                </a:solidFill>
                <a:latin typeface="+mn-ea"/>
              </a:rPr>
              <a:t>主要交付内容</a:t>
            </a:r>
            <a:r>
              <a:rPr lang="zh-CN" altLang="en-US" sz="1200" b="1" dirty="0">
                <a:solidFill>
                  <a:srgbClr val="333F50"/>
                </a:solidFill>
                <a:latin typeface="+mj-ea"/>
                <a:ea typeface="+mj-ea"/>
              </a:rPr>
              <a:t>：全国版销售业绩分析月报，</a:t>
            </a:r>
            <a:r>
              <a:rPr lang="zh-CN" altLang="en-US" sz="1200" b="1" dirty="0">
                <a:solidFill>
                  <a:srgbClr val="333F50"/>
                </a:solidFill>
                <a:latin typeface="+mj-ea"/>
              </a:rPr>
              <a:t>全国版销售业绩分析快报，</a:t>
            </a:r>
            <a:r>
              <a:rPr lang="zh-CN" altLang="en-US" sz="1200" b="1" dirty="0">
                <a:solidFill>
                  <a:srgbClr val="333F50"/>
                </a:solidFill>
                <a:latin typeface="+mj-ea"/>
                <a:ea typeface="+mj-ea"/>
              </a:rPr>
              <a:t>大区版销售业绩分析月报，全国版销售业绩日报</a:t>
            </a:r>
            <a:endParaRPr lang="en-US" altLang="zh-CN" sz="1200" b="1" dirty="0">
              <a:solidFill>
                <a:srgbClr val="333F50"/>
              </a:solidFill>
              <a:latin typeface="+mj-ea"/>
              <a:ea typeface="+mj-ea"/>
            </a:endParaRPr>
          </a:p>
          <a:p>
            <a:endParaRPr lang="en-US" sz="1200" b="1" dirty="0">
              <a:solidFill>
                <a:srgbClr val="333F50"/>
              </a:solidFill>
              <a:latin typeface="+mj-ea"/>
              <a:ea typeface="+mj-ea"/>
            </a:endParaRPr>
          </a:p>
          <a:p>
            <a:pPr>
              <a:lnSpc>
                <a:spcPct val="150000"/>
              </a:lnSpc>
            </a:pPr>
            <a:r>
              <a:rPr lang="en-US" altLang="zh-CN" sz="1200" b="1" dirty="0">
                <a:solidFill>
                  <a:srgbClr val="333F50"/>
                </a:solidFill>
              </a:rPr>
              <a:t>Fenty Beauty</a:t>
            </a:r>
          </a:p>
          <a:p>
            <a:pPr>
              <a:lnSpc>
                <a:spcPct val="150000"/>
              </a:lnSpc>
            </a:pPr>
            <a:r>
              <a:rPr lang="zh-CN" altLang="en-US" sz="1200" b="1" dirty="0">
                <a:solidFill>
                  <a:srgbClr val="333F50"/>
                </a:solidFill>
                <a:latin typeface="+mn-ea"/>
              </a:rPr>
              <a:t>业务部门：销售</a:t>
            </a:r>
            <a:r>
              <a:rPr lang="en-US" altLang="zh-CN" sz="1200" b="1" dirty="0">
                <a:solidFill>
                  <a:srgbClr val="333F50"/>
                </a:solidFill>
                <a:latin typeface="+mn-ea"/>
              </a:rPr>
              <a:t>/</a:t>
            </a:r>
            <a:r>
              <a:rPr lang="zh-CN" altLang="en-US" sz="1200" b="1" dirty="0">
                <a:solidFill>
                  <a:srgbClr val="333F50"/>
                </a:solidFill>
                <a:latin typeface="+mn-ea"/>
              </a:rPr>
              <a:t>运营</a:t>
            </a:r>
          </a:p>
          <a:p>
            <a:pPr>
              <a:lnSpc>
                <a:spcPct val="150000"/>
              </a:lnSpc>
            </a:pPr>
            <a:r>
              <a:rPr lang="zh-CN" altLang="en-US" sz="1200" b="1" dirty="0">
                <a:solidFill>
                  <a:srgbClr val="333F50"/>
                </a:solidFill>
                <a:latin typeface="+mn-ea"/>
              </a:rPr>
              <a:t>服务时长：</a:t>
            </a:r>
            <a:r>
              <a:rPr lang="en-US" altLang="zh-CN" sz="1200" b="1" dirty="0">
                <a:solidFill>
                  <a:srgbClr val="333F50"/>
                </a:solidFill>
                <a:latin typeface="+mn-ea"/>
              </a:rPr>
              <a:t>2</a:t>
            </a:r>
            <a:r>
              <a:rPr lang="zh-CN" altLang="en-US" sz="1200" b="1" dirty="0">
                <a:solidFill>
                  <a:srgbClr val="333F50"/>
                </a:solidFill>
                <a:latin typeface="+mn-ea"/>
              </a:rPr>
              <a:t>个月（</a:t>
            </a:r>
            <a:r>
              <a:rPr lang="en-US" altLang="zh-CN" sz="1200" b="1" dirty="0">
                <a:solidFill>
                  <a:srgbClr val="333F50"/>
                </a:solidFill>
                <a:latin typeface="+mn-ea"/>
              </a:rPr>
              <a:t>2025.05-</a:t>
            </a:r>
            <a:r>
              <a:rPr lang="zh-CN" altLang="en-US" sz="1200" b="1" dirty="0">
                <a:solidFill>
                  <a:srgbClr val="333F50"/>
                </a:solidFill>
                <a:latin typeface="+mn-ea"/>
              </a:rPr>
              <a:t>至今）</a:t>
            </a:r>
            <a:endParaRPr lang="en-US" altLang="zh-CN" sz="1200" b="1" dirty="0">
              <a:solidFill>
                <a:srgbClr val="333F50"/>
              </a:solidFill>
              <a:latin typeface="+mn-ea"/>
            </a:endParaRPr>
          </a:p>
          <a:p>
            <a:pPr>
              <a:lnSpc>
                <a:spcPct val="150000"/>
              </a:lnSpc>
            </a:pPr>
            <a:r>
              <a:rPr lang="zh-CN" altLang="en-US" sz="1200" b="1" dirty="0">
                <a:solidFill>
                  <a:srgbClr val="333F50"/>
                </a:solidFill>
                <a:latin typeface="+mn-ea"/>
              </a:rPr>
              <a:t>主要交付内容：零售业务分析报告</a:t>
            </a:r>
            <a:endParaRPr lang="en-US" altLang="zh-CN" sz="1200" b="1" dirty="0">
              <a:solidFill>
                <a:srgbClr val="333F50"/>
              </a:solidFill>
              <a:latin typeface="+mj-ea"/>
              <a:ea typeface="+mj-ea"/>
            </a:endParaRPr>
          </a:p>
          <a:p>
            <a:endParaRPr lang="en-US" altLang="zh-CN" sz="1200" b="1" dirty="0">
              <a:solidFill>
                <a:srgbClr val="333F50"/>
              </a:solidFill>
              <a:latin typeface="+mj-ea"/>
              <a:ea typeface="+mj-ea"/>
            </a:endParaRPr>
          </a:p>
          <a:p>
            <a:endParaRPr lang="en-US" altLang="zh-CN" sz="1200" b="1" dirty="0">
              <a:solidFill>
                <a:srgbClr val="333F50"/>
              </a:solidFill>
              <a:latin typeface="+mj-ea"/>
              <a:ea typeface="+mj-ea"/>
            </a:endParaRPr>
          </a:p>
          <a:p>
            <a:pPr>
              <a:lnSpc>
                <a:spcPct val="150000"/>
              </a:lnSpc>
            </a:pPr>
            <a:r>
              <a:rPr lang="en-US" altLang="zh-CN" sz="1200" b="1" dirty="0">
                <a:solidFill>
                  <a:srgbClr val="333F50"/>
                </a:solidFill>
              </a:rPr>
              <a:t>Amaris</a:t>
            </a:r>
          </a:p>
          <a:p>
            <a:pPr>
              <a:lnSpc>
                <a:spcPct val="150000"/>
              </a:lnSpc>
            </a:pPr>
            <a:r>
              <a:rPr lang="zh-CN" altLang="en-US" sz="1200" b="1" dirty="0">
                <a:solidFill>
                  <a:srgbClr val="333F50"/>
                </a:solidFill>
                <a:latin typeface="+mn-ea"/>
              </a:rPr>
              <a:t>业务部门：</a:t>
            </a:r>
            <a:r>
              <a:rPr lang="en-US" altLang="zh-CN" sz="1200" b="1" dirty="0">
                <a:solidFill>
                  <a:srgbClr val="333F50"/>
                </a:solidFill>
                <a:latin typeface="+mn-ea"/>
              </a:rPr>
              <a:t>IT</a:t>
            </a:r>
          </a:p>
          <a:p>
            <a:pPr>
              <a:lnSpc>
                <a:spcPct val="150000"/>
              </a:lnSpc>
            </a:pPr>
            <a:r>
              <a:rPr lang="zh-CN" altLang="en-US" sz="1200" b="1" dirty="0">
                <a:solidFill>
                  <a:srgbClr val="333F50"/>
                </a:solidFill>
                <a:latin typeface="+mn-ea"/>
              </a:rPr>
              <a:t>服务时长：</a:t>
            </a:r>
            <a:r>
              <a:rPr lang="en-US" altLang="zh-CN" sz="1200" b="1" dirty="0">
                <a:solidFill>
                  <a:srgbClr val="333F50"/>
                </a:solidFill>
                <a:latin typeface="+mn-ea"/>
              </a:rPr>
              <a:t>3</a:t>
            </a:r>
            <a:r>
              <a:rPr lang="zh-CN" altLang="en-US" sz="1200" b="1" dirty="0">
                <a:solidFill>
                  <a:srgbClr val="333F50"/>
                </a:solidFill>
                <a:latin typeface="+mn-ea"/>
              </a:rPr>
              <a:t>个月（</a:t>
            </a:r>
            <a:r>
              <a:rPr lang="en-US" altLang="zh-CN" sz="1200" b="1" dirty="0">
                <a:solidFill>
                  <a:srgbClr val="333F50"/>
                </a:solidFill>
                <a:latin typeface="+mn-ea"/>
              </a:rPr>
              <a:t>2024.10-2024.12</a:t>
            </a:r>
            <a:r>
              <a:rPr lang="zh-CN" altLang="en-US" sz="1200" b="1" dirty="0">
                <a:solidFill>
                  <a:srgbClr val="333F50"/>
                </a:solidFill>
                <a:latin typeface="+mn-ea"/>
              </a:rPr>
              <a:t>）</a:t>
            </a:r>
            <a:endParaRPr lang="en-US" altLang="zh-CN" sz="1200" b="1" dirty="0">
              <a:solidFill>
                <a:srgbClr val="333F50"/>
              </a:solidFill>
              <a:latin typeface="+mn-ea"/>
            </a:endParaRPr>
          </a:p>
          <a:p>
            <a:pPr>
              <a:lnSpc>
                <a:spcPct val="150000"/>
              </a:lnSpc>
            </a:pPr>
            <a:r>
              <a:rPr lang="zh-CN" altLang="en-US" sz="1200" b="1" dirty="0">
                <a:solidFill>
                  <a:srgbClr val="333F50"/>
                </a:solidFill>
                <a:latin typeface="+mn-ea"/>
              </a:rPr>
              <a:t>主要交付内容</a:t>
            </a:r>
            <a:r>
              <a:rPr lang="zh-CN" altLang="en-US" sz="1200" b="1" dirty="0">
                <a:solidFill>
                  <a:srgbClr val="333F50"/>
                </a:solidFill>
                <a:latin typeface="+mj-ea"/>
                <a:ea typeface="+mj-ea"/>
              </a:rPr>
              <a:t>：项目运维分析报告</a:t>
            </a:r>
            <a:endParaRPr lang="en-US" sz="1200" b="1" dirty="0">
              <a:solidFill>
                <a:srgbClr val="333F50"/>
              </a:solidFill>
            </a:endParaRPr>
          </a:p>
          <a:p>
            <a:endParaRPr lang="en-US" sz="1050" b="1" dirty="0">
              <a:solidFill>
                <a:srgbClr val="333F50"/>
              </a:solidFill>
            </a:endParaRPr>
          </a:p>
          <a:p>
            <a:pPr>
              <a:lnSpc>
                <a:spcPct val="150000"/>
              </a:lnSpc>
            </a:pPr>
            <a:endParaRPr lang="en-US" sz="1200" b="1"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83412" y="590777"/>
            <a:ext cx="5817428" cy="1092928"/>
          </a:xfrm>
          <a:prstGeom prst="rect">
            <a:avLst/>
          </a:prstGeom>
          <a:noFill/>
        </p:spPr>
        <p:txBody>
          <a:bodyPr wrap="square" rtlCol="0">
            <a:spAutoFit/>
          </a:bodyPr>
          <a:lstStyle/>
          <a:p>
            <a:pPr>
              <a:lnSpc>
                <a:spcPct val="150000"/>
              </a:lnSpc>
              <a:spcBef>
                <a:spcPts val="2400"/>
              </a:spcBef>
            </a:pPr>
            <a:r>
              <a:rPr lang="zh-CN" altLang="en-US" sz="1600" b="1" dirty="0">
                <a:solidFill>
                  <a:schemeClr val="tx2">
                    <a:lumMod val="75000"/>
                  </a:schemeClr>
                </a:solidFill>
              </a:rPr>
              <a:t>案例集锦（一）</a:t>
            </a:r>
            <a:endParaRPr lang="en-US" altLang="zh-CN" sz="1600" b="1" dirty="0">
              <a:solidFill>
                <a:schemeClr val="tx2">
                  <a:lumMod val="75000"/>
                </a:schemeClr>
              </a:solidFill>
            </a:endParaRPr>
          </a:p>
          <a:p>
            <a:pPr marL="342900" indent="-342900">
              <a:lnSpc>
                <a:spcPct val="150000"/>
              </a:lnSpc>
              <a:spcBef>
                <a:spcPts val="2400"/>
              </a:spcBef>
              <a:buAutoNum type="arabicPeriod"/>
            </a:pPr>
            <a:endParaRPr lang="en-US" altLang="zh-CN" sz="1600" b="1" dirty="0">
              <a:solidFill>
                <a:schemeClr val="tx2">
                  <a:lumMod val="75000"/>
                </a:schemeClr>
              </a:solidFill>
            </a:endParaRPr>
          </a:p>
        </p:txBody>
      </p:sp>
      <p:sp>
        <p:nvSpPr>
          <p:cNvPr id="4" name="TextBox 1"/>
          <p:cNvSpPr txBox="1"/>
          <p:nvPr/>
        </p:nvSpPr>
        <p:spPr>
          <a:xfrm>
            <a:off x="983412" y="1331006"/>
            <a:ext cx="2735148" cy="5427063"/>
          </a:xfrm>
          <a:prstGeom prst="rect">
            <a:avLst/>
          </a:prstGeom>
          <a:noFill/>
        </p:spPr>
        <p:txBody>
          <a:bodyPr wrap="square" rtlCol="0">
            <a:spAutoFit/>
          </a:bodyPr>
          <a:lstStyle/>
          <a:p>
            <a:pPr>
              <a:lnSpc>
                <a:spcPct val="120000"/>
              </a:lnSpc>
              <a:spcBef>
                <a:spcPts val="600"/>
              </a:spcBef>
            </a:pPr>
            <a:r>
              <a:rPr lang="zh-CN" altLang="en-US" sz="1200" b="1" dirty="0">
                <a:solidFill>
                  <a:schemeClr val="tx2">
                    <a:lumMod val="75000"/>
                  </a:schemeClr>
                </a:solidFill>
              </a:rPr>
              <a:t>客户：</a:t>
            </a:r>
            <a:endParaRPr lang="en-US" altLang="zh-CN" sz="1200" b="1" dirty="0">
              <a:solidFill>
                <a:schemeClr val="tx2">
                  <a:lumMod val="75000"/>
                </a:schemeClr>
              </a:solidFill>
            </a:endParaRPr>
          </a:p>
          <a:p>
            <a:pPr>
              <a:lnSpc>
                <a:spcPct val="120000"/>
              </a:lnSpc>
              <a:spcBef>
                <a:spcPts val="600"/>
              </a:spcBef>
            </a:pPr>
            <a:r>
              <a:rPr lang="en-US" altLang="zh-CN" sz="1200" b="1" dirty="0">
                <a:solidFill>
                  <a:schemeClr val="tx2">
                    <a:lumMod val="75000"/>
                  </a:schemeClr>
                </a:solidFill>
              </a:rPr>
              <a:t>Chanel</a:t>
            </a:r>
          </a:p>
          <a:p>
            <a:pPr>
              <a:lnSpc>
                <a:spcPct val="120000"/>
              </a:lnSpc>
              <a:spcBef>
                <a:spcPts val="600"/>
              </a:spcBef>
            </a:pPr>
            <a:endParaRPr lang="en-US" altLang="zh-CN" sz="1200" b="1" dirty="0">
              <a:solidFill>
                <a:schemeClr val="tx2">
                  <a:lumMod val="75000"/>
                </a:schemeClr>
              </a:solidFill>
            </a:endParaRPr>
          </a:p>
          <a:p>
            <a:pPr>
              <a:lnSpc>
                <a:spcPct val="120000"/>
              </a:lnSpc>
              <a:spcBef>
                <a:spcPts val="600"/>
              </a:spcBef>
            </a:pPr>
            <a:r>
              <a:rPr lang="zh-CN" altLang="en-US" sz="1200" b="1" dirty="0">
                <a:solidFill>
                  <a:schemeClr val="tx2">
                    <a:lumMod val="75000"/>
                  </a:schemeClr>
                </a:solidFill>
              </a:rPr>
              <a:t>职能部门：</a:t>
            </a:r>
            <a:endParaRPr lang="en-US" altLang="zh-CN" sz="1200" b="1" dirty="0">
              <a:solidFill>
                <a:schemeClr val="tx2">
                  <a:lumMod val="75000"/>
                </a:schemeClr>
              </a:solidFill>
            </a:endParaRPr>
          </a:p>
          <a:p>
            <a:pPr>
              <a:lnSpc>
                <a:spcPct val="120000"/>
              </a:lnSpc>
              <a:spcBef>
                <a:spcPts val="600"/>
              </a:spcBef>
            </a:pPr>
            <a:r>
              <a:rPr lang="zh-CN" altLang="en-US" sz="1200" b="1" dirty="0">
                <a:solidFill>
                  <a:schemeClr val="tx2">
                    <a:lumMod val="75000"/>
                  </a:schemeClr>
                </a:solidFill>
              </a:rPr>
              <a:t>市场</a:t>
            </a:r>
            <a:r>
              <a:rPr lang="en-US" altLang="zh-CN" sz="1200" b="1" dirty="0">
                <a:solidFill>
                  <a:schemeClr val="tx2">
                    <a:lumMod val="75000"/>
                  </a:schemeClr>
                </a:solidFill>
              </a:rPr>
              <a:t>/</a:t>
            </a:r>
            <a:r>
              <a:rPr lang="zh-CN" altLang="en-US" sz="1200" b="1" dirty="0">
                <a:solidFill>
                  <a:schemeClr val="tx2">
                    <a:lumMod val="75000"/>
                  </a:schemeClr>
                </a:solidFill>
              </a:rPr>
              <a:t>销售</a:t>
            </a:r>
            <a:r>
              <a:rPr lang="en-US" altLang="zh-CN" sz="1200" b="1" dirty="0">
                <a:solidFill>
                  <a:schemeClr val="tx2">
                    <a:lumMod val="75000"/>
                  </a:schemeClr>
                </a:solidFill>
              </a:rPr>
              <a:t>/</a:t>
            </a:r>
            <a:r>
              <a:rPr lang="zh-CN" altLang="en-US" sz="1200" b="1" dirty="0">
                <a:solidFill>
                  <a:schemeClr val="tx2">
                    <a:lumMod val="75000"/>
                  </a:schemeClr>
                </a:solidFill>
              </a:rPr>
              <a:t>供应链</a:t>
            </a:r>
            <a:r>
              <a:rPr lang="en-US" altLang="zh-CN" sz="1200" b="1" dirty="0">
                <a:solidFill>
                  <a:schemeClr val="tx2">
                    <a:lumMod val="75000"/>
                  </a:schemeClr>
                </a:solidFill>
              </a:rPr>
              <a:t>/</a:t>
            </a:r>
            <a:r>
              <a:rPr lang="zh-CN" altLang="en-US" sz="1200" b="1" dirty="0">
                <a:solidFill>
                  <a:schemeClr val="tx2">
                    <a:lumMod val="75000"/>
                  </a:schemeClr>
                </a:solidFill>
              </a:rPr>
              <a:t>财务</a:t>
            </a:r>
            <a:endParaRPr lang="en-US" altLang="zh-CN" sz="1200" b="1" dirty="0">
              <a:solidFill>
                <a:schemeClr val="tx2">
                  <a:lumMod val="75000"/>
                </a:schemeClr>
              </a:solidFill>
            </a:endParaRPr>
          </a:p>
          <a:p>
            <a:pPr>
              <a:lnSpc>
                <a:spcPct val="120000"/>
              </a:lnSpc>
              <a:spcBef>
                <a:spcPts val="600"/>
              </a:spcBef>
            </a:pPr>
            <a:endParaRPr lang="en-US" altLang="zh-CN" sz="1200" b="1" dirty="0">
              <a:solidFill>
                <a:schemeClr val="tx2">
                  <a:lumMod val="75000"/>
                </a:schemeClr>
              </a:solidFill>
            </a:endParaRPr>
          </a:p>
          <a:p>
            <a:pPr>
              <a:lnSpc>
                <a:spcPct val="120000"/>
              </a:lnSpc>
              <a:spcBef>
                <a:spcPts val="600"/>
              </a:spcBef>
            </a:pPr>
            <a:r>
              <a:rPr lang="zh-CN" altLang="en-US" sz="1200" b="1" dirty="0">
                <a:solidFill>
                  <a:schemeClr val="tx2">
                    <a:lumMod val="75000"/>
                  </a:schemeClr>
                </a:solidFill>
              </a:rPr>
              <a:t>工作内容：</a:t>
            </a:r>
            <a:endParaRPr lang="en-US" altLang="zh-CN" sz="1200" b="1" dirty="0">
              <a:solidFill>
                <a:schemeClr val="tx2">
                  <a:lumMod val="75000"/>
                </a:schemeClr>
              </a:solidFill>
            </a:endParaRPr>
          </a:p>
          <a:p>
            <a:pPr>
              <a:lnSpc>
                <a:spcPct val="120000"/>
              </a:lnSpc>
              <a:spcBef>
                <a:spcPts val="600"/>
              </a:spcBef>
            </a:pPr>
            <a:r>
              <a:rPr lang="zh-CN" altLang="en-US" sz="1200" b="1" dirty="0">
                <a:solidFill>
                  <a:schemeClr val="tx2">
                    <a:lumMod val="75000"/>
                  </a:schemeClr>
                </a:solidFill>
              </a:rPr>
              <a:t>收集报告需求，开发可视化报告</a:t>
            </a:r>
            <a:endParaRPr lang="en-US" altLang="zh-CN" sz="1200" b="1" dirty="0">
              <a:solidFill>
                <a:schemeClr val="tx2">
                  <a:lumMod val="75000"/>
                </a:schemeClr>
              </a:solidFill>
            </a:endParaRPr>
          </a:p>
          <a:p>
            <a:pPr>
              <a:lnSpc>
                <a:spcPct val="120000"/>
              </a:lnSpc>
              <a:spcBef>
                <a:spcPts val="600"/>
              </a:spcBef>
            </a:pPr>
            <a:endParaRPr lang="en-US" altLang="zh-CN" sz="1200" b="1" dirty="0">
              <a:solidFill>
                <a:schemeClr val="tx2">
                  <a:lumMod val="75000"/>
                </a:schemeClr>
              </a:solidFill>
            </a:endParaRPr>
          </a:p>
          <a:p>
            <a:pPr>
              <a:lnSpc>
                <a:spcPct val="120000"/>
              </a:lnSpc>
              <a:spcBef>
                <a:spcPts val="600"/>
              </a:spcBef>
            </a:pPr>
            <a:r>
              <a:rPr lang="zh-CN" altLang="en-US" sz="1200" b="1" dirty="0">
                <a:solidFill>
                  <a:schemeClr val="tx2">
                    <a:lumMod val="75000"/>
                  </a:schemeClr>
                </a:solidFill>
              </a:rPr>
              <a:t>业务价值：</a:t>
            </a:r>
            <a:endParaRPr lang="en-US" altLang="zh-CN" sz="1200" b="1" dirty="0">
              <a:solidFill>
                <a:schemeClr val="tx2">
                  <a:lumMod val="75000"/>
                </a:schemeClr>
              </a:solidFill>
            </a:endParaRPr>
          </a:p>
          <a:p>
            <a:pPr>
              <a:lnSpc>
                <a:spcPct val="120000"/>
              </a:lnSpc>
              <a:spcBef>
                <a:spcPts val="600"/>
              </a:spcBef>
            </a:pPr>
            <a:r>
              <a:rPr lang="en-US" altLang="zh-CN" sz="1200" b="1" dirty="0">
                <a:solidFill>
                  <a:schemeClr val="tx2">
                    <a:lumMod val="75000"/>
                  </a:schemeClr>
                </a:solidFill>
              </a:rPr>
              <a:t>1.</a:t>
            </a:r>
            <a:r>
              <a:rPr lang="zh-CN" altLang="en-US" sz="1200" b="1" dirty="0">
                <a:solidFill>
                  <a:schemeClr val="tx2">
                    <a:lumMod val="75000"/>
                  </a:schemeClr>
                </a:solidFill>
              </a:rPr>
              <a:t>零售业务分析报告分析了线上和线下门店的销售情况以及指标达成进度，位优化渠道策略，提升全渠道销售效能提供了数据支撑。</a:t>
            </a:r>
            <a:endParaRPr lang="en-US" altLang="zh-CN" sz="1200" b="1" dirty="0">
              <a:solidFill>
                <a:schemeClr val="tx2">
                  <a:lumMod val="75000"/>
                </a:schemeClr>
              </a:solidFill>
            </a:endParaRPr>
          </a:p>
          <a:p>
            <a:pPr>
              <a:lnSpc>
                <a:spcPct val="120000"/>
              </a:lnSpc>
              <a:spcBef>
                <a:spcPts val="600"/>
              </a:spcBef>
            </a:pPr>
            <a:r>
              <a:rPr lang="en-US" altLang="zh-CN" sz="1200" b="1" dirty="0">
                <a:solidFill>
                  <a:schemeClr val="tx2">
                    <a:lumMod val="75000"/>
                  </a:schemeClr>
                </a:solidFill>
              </a:rPr>
              <a:t>2.</a:t>
            </a:r>
            <a:r>
              <a:rPr lang="zh-CN" altLang="en-US" sz="1200" b="1" dirty="0">
                <a:solidFill>
                  <a:schemeClr val="tx2">
                    <a:lumMod val="75000"/>
                  </a:schemeClr>
                </a:solidFill>
              </a:rPr>
              <a:t>库存管理报告实时监测进销存之间的关系，预测需求峰谷，从而更有效地进行库存管理。并密切跟踪库存效期，这有助于避免库存积压或缺货情况，降低库存成本</a:t>
            </a:r>
            <a:endParaRPr lang="en-US" altLang="zh-CN" sz="1200" b="1" dirty="0">
              <a:solidFill>
                <a:schemeClr val="tx2">
                  <a:lumMod val="75000"/>
                </a:schemeClr>
              </a:solidFill>
            </a:endParaRPr>
          </a:p>
          <a:p>
            <a:pPr>
              <a:lnSpc>
                <a:spcPct val="120000"/>
              </a:lnSpc>
              <a:spcBef>
                <a:spcPts val="600"/>
              </a:spcBef>
            </a:pPr>
            <a:endParaRPr lang="en-US" altLang="zh-CN" sz="1200" b="1" dirty="0">
              <a:solidFill>
                <a:schemeClr val="tx2">
                  <a:lumMod val="75000"/>
                </a:schemeClr>
              </a:solidFill>
            </a:endParaRPr>
          </a:p>
        </p:txBody>
      </p:sp>
      <p:pic>
        <p:nvPicPr>
          <p:cNvPr id="14" name="图片 13">
            <a:extLst>
              <a:ext uri="{FF2B5EF4-FFF2-40B4-BE49-F238E27FC236}">
                <a16:creationId xmlns:a16="http://schemas.microsoft.com/office/drawing/2014/main" id="{12586C40-49FD-5C62-41D9-CB1FACF86118}"/>
              </a:ext>
            </a:extLst>
          </p:cNvPr>
          <p:cNvPicPr>
            <a:picLocks noChangeAspect="1"/>
          </p:cNvPicPr>
          <p:nvPr/>
        </p:nvPicPr>
        <p:blipFill>
          <a:blip r:embed="rId3"/>
          <a:stretch>
            <a:fillRect/>
          </a:stretch>
        </p:blipFill>
        <p:spPr>
          <a:xfrm>
            <a:off x="5728034" y="590778"/>
            <a:ext cx="4641792" cy="2570064"/>
          </a:xfrm>
          <a:prstGeom prst="rect">
            <a:avLst/>
          </a:prstGeom>
        </p:spPr>
      </p:pic>
      <p:pic>
        <p:nvPicPr>
          <p:cNvPr id="16" name="图片 15">
            <a:extLst>
              <a:ext uri="{FF2B5EF4-FFF2-40B4-BE49-F238E27FC236}">
                <a16:creationId xmlns:a16="http://schemas.microsoft.com/office/drawing/2014/main" id="{3E299973-B8EC-51B3-791A-372A402DC4E4}"/>
              </a:ext>
            </a:extLst>
          </p:cNvPr>
          <p:cNvPicPr>
            <a:picLocks noChangeAspect="1"/>
          </p:cNvPicPr>
          <p:nvPr/>
        </p:nvPicPr>
        <p:blipFill>
          <a:blip r:embed="rId4"/>
          <a:stretch>
            <a:fillRect/>
          </a:stretch>
        </p:blipFill>
        <p:spPr>
          <a:xfrm>
            <a:off x="5728034" y="3329768"/>
            <a:ext cx="4641792" cy="305923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83412" y="590777"/>
            <a:ext cx="5817428" cy="1092928"/>
          </a:xfrm>
          <a:prstGeom prst="rect">
            <a:avLst/>
          </a:prstGeom>
          <a:noFill/>
        </p:spPr>
        <p:txBody>
          <a:bodyPr wrap="square" rtlCol="0">
            <a:spAutoFit/>
          </a:bodyPr>
          <a:lstStyle/>
          <a:p>
            <a:pPr>
              <a:lnSpc>
                <a:spcPct val="150000"/>
              </a:lnSpc>
              <a:spcBef>
                <a:spcPts val="2400"/>
              </a:spcBef>
            </a:pPr>
            <a:r>
              <a:rPr lang="zh-CN" altLang="en-US" sz="1600" b="1" dirty="0">
                <a:solidFill>
                  <a:schemeClr val="tx2">
                    <a:lumMod val="75000"/>
                  </a:schemeClr>
                </a:solidFill>
              </a:rPr>
              <a:t>案例集锦（二）</a:t>
            </a:r>
            <a:endParaRPr lang="en-US" altLang="zh-CN" sz="1600" b="1" dirty="0">
              <a:solidFill>
                <a:schemeClr val="tx2">
                  <a:lumMod val="75000"/>
                </a:schemeClr>
              </a:solidFill>
            </a:endParaRPr>
          </a:p>
          <a:p>
            <a:pPr marL="342900" indent="-342900">
              <a:lnSpc>
                <a:spcPct val="150000"/>
              </a:lnSpc>
              <a:spcBef>
                <a:spcPts val="2400"/>
              </a:spcBef>
              <a:buAutoNum type="arabicPeriod"/>
            </a:pPr>
            <a:endParaRPr lang="en-US" altLang="zh-CN" sz="1600" b="1" dirty="0">
              <a:solidFill>
                <a:schemeClr val="tx2">
                  <a:lumMod val="75000"/>
                </a:schemeClr>
              </a:solidFill>
            </a:endParaRPr>
          </a:p>
        </p:txBody>
      </p:sp>
      <p:sp>
        <p:nvSpPr>
          <p:cNvPr id="4" name="TextBox 1"/>
          <p:cNvSpPr txBox="1"/>
          <p:nvPr/>
        </p:nvSpPr>
        <p:spPr>
          <a:xfrm>
            <a:off x="983412" y="1331006"/>
            <a:ext cx="2735148" cy="4388253"/>
          </a:xfrm>
          <a:prstGeom prst="rect">
            <a:avLst/>
          </a:prstGeom>
          <a:noFill/>
        </p:spPr>
        <p:txBody>
          <a:bodyPr wrap="square" rtlCol="0">
            <a:spAutoFit/>
          </a:bodyPr>
          <a:lstStyle/>
          <a:p>
            <a:pPr>
              <a:lnSpc>
                <a:spcPct val="120000"/>
              </a:lnSpc>
              <a:spcBef>
                <a:spcPts val="600"/>
              </a:spcBef>
            </a:pPr>
            <a:r>
              <a:rPr lang="zh-CN" altLang="en-US" sz="1200" b="1" dirty="0">
                <a:solidFill>
                  <a:schemeClr val="tx2">
                    <a:lumMod val="75000"/>
                  </a:schemeClr>
                </a:solidFill>
              </a:rPr>
              <a:t>客户：</a:t>
            </a:r>
            <a:endParaRPr lang="en-US" altLang="zh-CN" sz="1200" b="1" dirty="0">
              <a:solidFill>
                <a:schemeClr val="tx2">
                  <a:lumMod val="75000"/>
                </a:schemeClr>
              </a:solidFill>
            </a:endParaRPr>
          </a:p>
          <a:p>
            <a:pPr>
              <a:lnSpc>
                <a:spcPct val="120000"/>
              </a:lnSpc>
              <a:spcBef>
                <a:spcPts val="600"/>
              </a:spcBef>
            </a:pPr>
            <a:r>
              <a:rPr lang="zh-CN" altLang="en-US" sz="1200" b="1" dirty="0">
                <a:solidFill>
                  <a:schemeClr val="tx2">
                    <a:lumMod val="75000"/>
                  </a:schemeClr>
                </a:solidFill>
              </a:rPr>
              <a:t>蒙牛</a:t>
            </a:r>
            <a:endParaRPr lang="en-US" altLang="zh-CN" sz="1200" b="1" dirty="0">
              <a:solidFill>
                <a:schemeClr val="tx2">
                  <a:lumMod val="75000"/>
                </a:schemeClr>
              </a:solidFill>
            </a:endParaRPr>
          </a:p>
          <a:p>
            <a:pPr>
              <a:lnSpc>
                <a:spcPct val="120000"/>
              </a:lnSpc>
              <a:spcBef>
                <a:spcPts val="600"/>
              </a:spcBef>
            </a:pPr>
            <a:endParaRPr lang="en-US" altLang="zh-CN" sz="1200" b="1" dirty="0">
              <a:solidFill>
                <a:schemeClr val="tx2">
                  <a:lumMod val="75000"/>
                </a:schemeClr>
              </a:solidFill>
            </a:endParaRPr>
          </a:p>
          <a:p>
            <a:pPr>
              <a:lnSpc>
                <a:spcPct val="120000"/>
              </a:lnSpc>
              <a:spcBef>
                <a:spcPts val="600"/>
              </a:spcBef>
            </a:pPr>
            <a:r>
              <a:rPr lang="zh-CN" altLang="en-US" sz="1200" b="1" dirty="0">
                <a:solidFill>
                  <a:schemeClr val="tx2">
                    <a:lumMod val="75000"/>
                  </a:schemeClr>
                </a:solidFill>
              </a:rPr>
              <a:t>职能部门：</a:t>
            </a:r>
            <a:endParaRPr lang="en-US" altLang="zh-CN" sz="1200" b="1" dirty="0">
              <a:solidFill>
                <a:schemeClr val="tx2">
                  <a:lumMod val="75000"/>
                </a:schemeClr>
              </a:solidFill>
            </a:endParaRPr>
          </a:p>
          <a:p>
            <a:pPr>
              <a:lnSpc>
                <a:spcPct val="120000"/>
              </a:lnSpc>
              <a:spcBef>
                <a:spcPts val="600"/>
              </a:spcBef>
            </a:pPr>
            <a:r>
              <a:rPr lang="zh-CN" altLang="en-US" sz="1200" b="1" dirty="0">
                <a:solidFill>
                  <a:srgbClr val="333F50"/>
                </a:solidFill>
                <a:latin typeface="+mn-ea"/>
              </a:rPr>
              <a:t>销售</a:t>
            </a:r>
            <a:r>
              <a:rPr lang="en-US" altLang="zh-CN" sz="1200" b="1" dirty="0">
                <a:solidFill>
                  <a:srgbClr val="333F50"/>
                </a:solidFill>
                <a:latin typeface="+mn-ea"/>
              </a:rPr>
              <a:t>/</a:t>
            </a:r>
            <a:r>
              <a:rPr lang="zh-CN" altLang="en-US" sz="1200" b="1" dirty="0">
                <a:solidFill>
                  <a:srgbClr val="333F50"/>
                </a:solidFill>
                <a:latin typeface="+mn-ea"/>
              </a:rPr>
              <a:t>运营</a:t>
            </a:r>
            <a:endParaRPr lang="en-US" altLang="zh-CN" sz="1200" b="1" dirty="0">
              <a:solidFill>
                <a:schemeClr val="tx2">
                  <a:lumMod val="75000"/>
                </a:schemeClr>
              </a:solidFill>
            </a:endParaRPr>
          </a:p>
          <a:p>
            <a:pPr>
              <a:lnSpc>
                <a:spcPct val="120000"/>
              </a:lnSpc>
              <a:spcBef>
                <a:spcPts val="600"/>
              </a:spcBef>
            </a:pPr>
            <a:endParaRPr lang="en-US" altLang="zh-CN" sz="1200" b="1" dirty="0">
              <a:solidFill>
                <a:schemeClr val="tx2">
                  <a:lumMod val="75000"/>
                </a:schemeClr>
              </a:solidFill>
            </a:endParaRPr>
          </a:p>
          <a:p>
            <a:pPr>
              <a:lnSpc>
                <a:spcPct val="120000"/>
              </a:lnSpc>
              <a:spcBef>
                <a:spcPts val="600"/>
              </a:spcBef>
            </a:pPr>
            <a:r>
              <a:rPr lang="zh-CN" altLang="en-US" sz="1200" b="1" dirty="0">
                <a:solidFill>
                  <a:schemeClr val="tx2">
                    <a:lumMod val="75000"/>
                  </a:schemeClr>
                </a:solidFill>
              </a:rPr>
              <a:t>工作内容：</a:t>
            </a:r>
            <a:endParaRPr lang="en-US" altLang="zh-CN" sz="1200" b="1" dirty="0">
              <a:solidFill>
                <a:schemeClr val="tx2">
                  <a:lumMod val="75000"/>
                </a:schemeClr>
              </a:solidFill>
            </a:endParaRPr>
          </a:p>
          <a:p>
            <a:pPr>
              <a:lnSpc>
                <a:spcPct val="120000"/>
              </a:lnSpc>
              <a:spcBef>
                <a:spcPts val="600"/>
              </a:spcBef>
            </a:pPr>
            <a:r>
              <a:rPr lang="zh-CN" altLang="en-US" sz="1200" b="1" dirty="0">
                <a:solidFill>
                  <a:schemeClr val="tx2">
                    <a:lumMod val="75000"/>
                  </a:schemeClr>
                </a:solidFill>
              </a:rPr>
              <a:t>优化现有的</a:t>
            </a:r>
            <a:r>
              <a:rPr lang="en-US" altLang="zh-CN" sz="1200" b="1" dirty="0">
                <a:solidFill>
                  <a:schemeClr val="tx2">
                    <a:lumMod val="75000"/>
                  </a:schemeClr>
                </a:solidFill>
              </a:rPr>
              <a:t>PDF</a:t>
            </a:r>
            <a:r>
              <a:rPr lang="zh-CN" altLang="en-US" sz="1200" b="1" dirty="0">
                <a:solidFill>
                  <a:schemeClr val="tx2">
                    <a:lumMod val="75000"/>
                  </a:schemeClr>
                </a:solidFill>
              </a:rPr>
              <a:t>版销售业绩分析报告，并用</a:t>
            </a:r>
            <a:r>
              <a:rPr lang="en-US" altLang="zh-CN" sz="1200" b="1" dirty="0">
                <a:solidFill>
                  <a:schemeClr val="tx2">
                    <a:lumMod val="75000"/>
                  </a:schemeClr>
                </a:solidFill>
              </a:rPr>
              <a:t>BI</a:t>
            </a:r>
            <a:r>
              <a:rPr lang="zh-CN" altLang="en-US" sz="1200" b="1" dirty="0">
                <a:solidFill>
                  <a:schemeClr val="tx2">
                    <a:lumMod val="75000"/>
                  </a:schemeClr>
                </a:solidFill>
              </a:rPr>
              <a:t>的形式呈现</a:t>
            </a:r>
            <a:endParaRPr lang="en-US" altLang="zh-CN" sz="1200" b="1" dirty="0">
              <a:solidFill>
                <a:schemeClr val="tx2">
                  <a:lumMod val="75000"/>
                </a:schemeClr>
              </a:solidFill>
            </a:endParaRPr>
          </a:p>
          <a:p>
            <a:pPr>
              <a:lnSpc>
                <a:spcPct val="120000"/>
              </a:lnSpc>
              <a:spcBef>
                <a:spcPts val="600"/>
              </a:spcBef>
            </a:pPr>
            <a:endParaRPr lang="en-US" altLang="zh-CN" sz="1200" b="1" dirty="0">
              <a:solidFill>
                <a:schemeClr val="tx2">
                  <a:lumMod val="75000"/>
                </a:schemeClr>
              </a:solidFill>
            </a:endParaRPr>
          </a:p>
          <a:p>
            <a:pPr>
              <a:lnSpc>
                <a:spcPct val="120000"/>
              </a:lnSpc>
              <a:spcBef>
                <a:spcPts val="600"/>
              </a:spcBef>
            </a:pPr>
            <a:r>
              <a:rPr lang="zh-CN" altLang="en-US" sz="1200" b="1" dirty="0">
                <a:solidFill>
                  <a:schemeClr val="tx2">
                    <a:lumMod val="75000"/>
                  </a:schemeClr>
                </a:solidFill>
              </a:rPr>
              <a:t>业务价值：</a:t>
            </a:r>
            <a:endParaRPr lang="en-US" altLang="zh-CN" sz="1200" b="1" dirty="0">
              <a:solidFill>
                <a:schemeClr val="tx2">
                  <a:lumMod val="75000"/>
                </a:schemeClr>
              </a:solidFill>
            </a:endParaRPr>
          </a:p>
          <a:p>
            <a:pPr>
              <a:lnSpc>
                <a:spcPct val="120000"/>
              </a:lnSpc>
              <a:spcBef>
                <a:spcPts val="600"/>
              </a:spcBef>
            </a:pPr>
            <a:r>
              <a:rPr lang="zh-CN" altLang="en-US" sz="1200" b="1" dirty="0">
                <a:solidFill>
                  <a:schemeClr val="tx2">
                    <a:lumMod val="75000"/>
                  </a:schemeClr>
                </a:solidFill>
              </a:rPr>
              <a:t>帮助销售运营团队更好地了解各产品的销售趋势和下辖区域的销售情况，并对业绩出现明显下滑和未达成指标的辖区进行预警，为销售运营领导层的策略方针提供数据支撑</a:t>
            </a:r>
            <a:endParaRPr lang="en-US" altLang="zh-CN" sz="1200" b="1" dirty="0">
              <a:solidFill>
                <a:schemeClr val="tx2">
                  <a:lumMod val="75000"/>
                </a:schemeClr>
              </a:solidFill>
            </a:endParaRPr>
          </a:p>
        </p:txBody>
      </p:sp>
      <p:pic>
        <p:nvPicPr>
          <p:cNvPr id="9" name="图片 8">
            <a:extLst>
              <a:ext uri="{FF2B5EF4-FFF2-40B4-BE49-F238E27FC236}">
                <a16:creationId xmlns:a16="http://schemas.microsoft.com/office/drawing/2014/main" id="{91CC2593-41DC-4396-D8F4-D4CBDD4AA889}"/>
              </a:ext>
            </a:extLst>
          </p:cNvPr>
          <p:cNvPicPr>
            <a:picLocks noChangeAspect="1"/>
          </p:cNvPicPr>
          <p:nvPr/>
        </p:nvPicPr>
        <p:blipFill>
          <a:blip r:embed="rId3"/>
          <a:stretch>
            <a:fillRect/>
          </a:stretch>
        </p:blipFill>
        <p:spPr>
          <a:xfrm>
            <a:off x="4731075" y="1583846"/>
            <a:ext cx="6625413" cy="413541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heme/theme1.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Segoe UI"/>
        <a:ea typeface="微软雅黑"/>
        <a:cs typeface=""/>
      </a:majorFont>
      <a:minorFont>
        <a:latin typeface="Segoe U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文档" ma:contentTypeID="0x010100A7AD3AE9D3F0C84FA72F5B6B460E0953" ma:contentTypeVersion="2" ma:contentTypeDescription="新建文档。" ma:contentTypeScope="" ma:versionID="a64cdc95600163fa47f2c05f9cecea9e">
  <xsd:schema xmlns:xsd="http://www.w3.org/2001/XMLSchema" xmlns:xs="http://www.w3.org/2001/XMLSchema" xmlns:p="http://schemas.microsoft.com/office/2006/metadata/properties" xmlns:ns2="7128d3b0-3e53-4fa4-b080-8a3e3416ac1e" targetNamespace="http://schemas.microsoft.com/office/2006/metadata/properties" ma:root="true" ma:fieldsID="55dab5998682539bd1d16d176bb6360a" ns2:_="">
    <xsd:import namespace="7128d3b0-3e53-4fa4-b080-8a3e3416ac1e"/>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28d3b0-3e53-4fa4-b080-8a3e3416ac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内容类型"/>
        <xsd:element ref="dc:title" minOccurs="0" maxOccurs="1" ma:index="4" ma:displayName="标题"/>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7B09800-9573-4EC4-936E-67037D3D193C}">
  <ds:schemaRefs/>
</ds:datastoreItem>
</file>

<file path=customXml/itemProps2.xml><?xml version="1.0" encoding="utf-8"?>
<ds:datastoreItem xmlns:ds="http://schemas.openxmlformats.org/officeDocument/2006/customXml" ds:itemID="{619296F6-4143-412A-825E-74780CE07DFB}">
  <ds:schemaRefs/>
</ds:datastoreItem>
</file>

<file path=customXml/itemProps3.xml><?xml version="1.0" encoding="utf-8"?>
<ds:datastoreItem xmlns:ds="http://schemas.openxmlformats.org/officeDocument/2006/customXml" ds:itemID="{AFBE62B5-A7D8-46C7-B38F-F78812777B0C}">
  <ds:schemaRefs/>
</ds:datastoreItem>
</file>

<file path=docProps/app.xml><?xml version="1.0" encoding="utf-8"?>
<Properties xmlns="http://schemas.openxmlformats.org/officeDocument/2006/extended-properties" xmlns:vt="http://schemas.openxmlformats.org/officeDocument/2006/docPropsVTypes">
  <TotalTime>52</TotalTime>
  <Words>573</Words>
  <Application>Microsoft Office PowerPoint</Application>
  <PresentationFormat>宽屏</PresentationFormat>
  <Paragraphs>75</Paragraphs>
  <Slides>4</Slides>
  <Notes>4</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4</vt:i4>
      </vt:variant>
    </vt:vector>
  </HeadingPairs>
  <TitlesOfParts>
    <vt:vector size="9" baseType="lpstr">
      <vt:lpstr>Volvo Novum Light</vt:lpstr>
      <vt:lpstr>等线</vt:lpstr>
      <vt:lpstr>Arial</vt:lpstr>
      <vt:lpstr>Segoe UI</vt:lpstr>
      <vt:lpstr>2_Office Theme</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 诗琛</dc:creator>
  <cp:lastModifiedBy>Shichen Wang</cp:lastModifiedBy>
  <cp:revision>488</cp:revision>
  <cp:lastPrinted>2021-02-05T02:35:00Z</cp:lastPrinted>
  <dcterms:created xsi:type="dcterms:W3CDTF">2021-02-04T04:22:00Z</dcterms:created>
  <dcterms:modified xsi:type="dcterms:W3CDTF">2025-06-24T05:12:11Z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0x010100A7AD3AE9D3F0C84FA72F5B6B460E0953</vt:lpwstr>
  </property>
  <property fmtid="{D5CDD505-2E9C-101B-9397-08002B2CF9AE}" pid="3" name="ICV">
    <vt:lpwstr>9D2234906A61472BB1E461AEF52B2C43_12</vt:lpwstr>
  </property>
  <property fmtid="{D5CDD505-2E9C-101B-9397-08002B2CF9AE}" pid="4" name="KSOProductBuildVer">
    <vt:lpwstr>2052-12.1.0.21541</vt:lpwstr>
  </property>
</Properties>
</file>